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0" r:id="rId1"/>
  </p:sldMasterIdLst>
  <p:notesMasterIdLst>
    <p:notesMasterId r:id="rId23"/>
  </p:notesMasterIdLst>
  <p:sldIdLst>
    <p:sldId id="256" r:id="rId2"/>
    <p:sldId id="274" r:id="rId3"/>
    <p:sldId id="257" r:id="rId4"/>
    <p:sldId id="258" r:id="rId5"/>
    <p:sldId id="259" r:id="rId6"/>
    <p:sldId id="261" r:id="rId7"/>
    <p:sldId id="265" r:id="rId8"/>
    <p:sldId id="266" r:id="rId9"/>
    <p:sldId id="267" r:id="rId10"/>
    <p:sldId id="275" r:id="rId11"/>
    <p:sldId id="276" r:id="rId12"/>
    <p:sldId id="271" r:id="rId13"/>
    <p:sldId id="278" r:id="rId14"/>
    <p:sldId id="279" r:id="rId15"/>
    <p:sldId id="280" r:id="rId16"/>
    <p:sldId id="281" r:id="rId17"/>
    <p:sldId id="282" r:id="rId18"/>
    <p:sldId id="283" r:id="rId19"/>
    <p:sldId id="284" r:id="rId20"/>
    <p:sldId id="285" r:id="rId21"/>
    <p:sldId id="26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1E56EC-CB62-7845-9D77-42832B17B2F5}" v="127" dt="2025-03-12T23:39:21.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9"/>
    <p:restoredTop sz="94679"/>
  </p:normalViewPr>
  <p:slideViewPr>
    <p:cSldViewPr snapToGrid="0">
      <p:cViewPr varScale="1">
        <p:scale>
          <a:sx n="104" d="100"/>
          <a:sy n="104" d="100"/>
        </p:scale>
        <p:origin x="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AFF5A5-C24C-4225-B9C2-9C14527E545E}"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64D6BD2C-CCF1-E847-A069-80A7F98ED89E}">
      <dgm:prSet custT="1"/>
      <dgm:spPr/>
      <dgm:t>
        <a:bodyPr/>
        <a:lstStyle/>
        <a:p>
          <a:r>
            <a:rPr lang="en-US" sz="1400" b="0" i="0" u="none" dirty="0"/>
            <a:t>By Center for Public Justice in "Classroom Or Courtroom? Problems &amp; Solutions To The School-To-Prison Pipeline":</a:t>
          </a:r>
          <a:br>
            <a:rPr lang="en-US" sz="1400" b="0" i="0" dirty="0"/>
          </a:br>
          <a:r>
            <a:rPr lang="en-US" sz="1400" b="0" i="0" u="none" dirty="0"/>
            <a:t>"School discipline practices that rely on suspensions and expulsions contribute to pushing students out of the classroom and into the criminal justice system."</a:t>
          </a:r>
          <a:endParaRPr lang="en-US" sz="1400" b="0" i="0" dirty="0"/>
        </a:p>
      </dgm:t>
    </dgm:pt>
    <dgm:pt modelId="{33AC3800-E126-FB4F-A07D-1D5B1C4F9D65}" type="parTrans" cxnId="{45310D9F-62C4-6E43-8339-26DFCBBC37B3}">
      <dgm:prSet/>
      <dgm:spPr/>
      <dgm:t>
        <a:bodyPr/>
        <a:lstStyle/>
        <a:p>
          <a:endParaRPr lang="en-US"/>
        </a:p>
      </dgm:t>
    </dgm:pt>
    <dgm:pt modelId="{DFB65ADB-F543-604A-9EE2-E0A37231F35B}" type="sibTrans" cxnId="{45310D9F-62C4-6E43-8339-26DFCBBC37B3}">
      <dgm:prSet phldrT="1" phldr="0"/>
      <dgm:spPr/>
      <dgm:t>
        <a:bodyPr/>
        <a:lstStyle/>
        <a:p>
          <a:r>
            <a:rPr lang="en-US"/>
            <a:t>1</a:t>
          </a:r>
        </a:p>
      </dgm:t>
    </dgm:pt>
    <dgm:pt modelId="{5D5BE145-A2B2-DA4E-8AAD-4D739B9DDBE4}">
      <dgm:prSet custT="1"/>
      <dgm:spPr/>
      <dgm:t>
        <a:bodyPr/>
        <a:lstStyle/>
        <a:p>
          <a:r>
            <a:rPr lang="en-US" sz="1400" b="0" i="0" u="none" dirty="0"/>
            <a:t>By Legal Defense Fund in "Case: School To Prison Pipeline":</a:t>
          </a:r>
          <a:br>
            <a:rPr lang="en-US" sz="1400" b="0" i="0" dirty="0"/>
          </a:br>
          <a:r>
            <a:rPr lang="en-US" sz="1400" b="0" i="0" u="none" dirty="0"/>
            <a:t>"Many of the policies and practices that create the school-to-prison pipeline disproportionately impact students of color and those with disabilities."</a:t>
          </a:r>
          <a:endParaRPr lang="en-US" sz="1400" b="0" i="0" dirty="0"/>
        </a:p>
      </dgm:t>
    </dgm:pt>
    <dgm:pt modelId="{6774CC65-90AB-8449-91F4-3444F526A480}" type="parTrans" cxnId="{89DB0CE9-FA53-944B-A348-B031736786DF}">
      <dgm:prSet/>
      <dgm:spPr/>
      <dgm:t>
        <a:bodyPr/>
        <a:lstStyle/>
        <a:p>
          <a:endParaRPr lang="en-US"/>
        </a:p>
      </dgm:t>
    </dgm:pt>
    <dgm:pt modelId="{BF334C48-56D3-0F4E-8288-BCB261401596}" type="sibTrans" cxnId="{89DB0CE9-FA53-944B-A348-B031736786DF}">
      <dgm:prSet phldrT="2" phldr="0"/>
      <dgm:spPr/>
      <dgm:t>
        <a:bodyPr/>
        <a:lstStyle/>
        <a:p>
          <a:r>
            <a:rPr lang="en-US"/>
            <a:t>2</a:t>
          </a:r>
        </a:p>
      </dgm:t>
    </dgm:pt>
    <dgm:pt modelId="{8E182E4C-4BEE-AB47-8C83-F7F47E930484}">
      <dgm:prSet custT="1"/>
      <dgm:spPr/>
      <dgm:t>
        <a:bodyPr/>
        <a:lstStyle/>
        <a:p>
          <a:r>
            <a:rPr lang="en-US" sz="1400" b="0" i="0" u="none" dirty="0"/>
            <a:t>By Learning for Justice in "The School-To-Prison Pipeline":</a:t>
          </a:r>
          <a:br>
            <a:rPr lang="en-US" sz="1400" b="0" i="0" dirty="0"/>
          </a:br>
          <a:r>
            <a:rPr lang="en-US" sz="1400" b="0" i="0" u="none" dirty="0"/>
            <a:t>"The school-to-prison pipeline is fueled by the criminalization of behavior that is often the result of unmet needs or lack of support."</a:t>
          </a:r>
          <a:endParaRPr lang="en-US" sz="1400" b="0" i="0" dirty="0"/>
        </a:p>
      </dgm:t>
    </dgm:pt>
    <dgm:pt modelId="{6650E920-D44D-904F-A777-066669DC0C17}" type="parTrans" cxnId="{3D2BB243-C5A7-0E4A-B725-B81069A977CC}">
      <dgm:prSet/>
      <dgm:spPr/>
      <dgm:t>
        <a:bodyPr/>
        <a:lstStyle/>
        <a:p>
          <a:endParaRPr lang="en-US"/>
        </a:p>
      </dgm:t>
    </dgm:pt>
    <dgm:pt modelId="{5FDA40EB-2368-E64D-A21F-ACFA45B52C37}" type="sibTrans" cxnId="{3D2BB243-C5A7-0E4A-B725-B81069A977CC}">
      <dgm:prSet phldrT="3" phldr="0"/>
      <dgm:spPr/>
      <dgm:t>
        <a:bodyPr/>
        <a:lstStyle/>
        <a:p>
          <a:r>
            <a:rPr lang="en-US"/>
            <a:t>3</a:t>
          </a:r>
        </a:p>
      </dgm:t>
    </dgm:pt>
    <dgm:pt modelId="{2F47FF8F-B863-8D44-9111-85716D9CE7BF}" type="pres">
      <dgm:prSet presAssocID="{21AFF5A5-C24C-4225-B9C2-9C14527E545E}" presName="Name0" presStyleCnt="0">
        <dgm:presLayoutVars>
          <dgm:animLvl val="lvl"/>
          <dgm:resizeHandles val="exact"/>
        </dgm:presLayoutVars>
      </dgm:prSet>
      <dgm:spPr/>
    </dgm:pt>
    <dgm:pt modelId="{4A34FE78-D9FF-5C47-B7C8-06740290B531}" type="pres">
      <dgm:prSet presAssocID="{64D6BD2C-CCF1-E847-A069-80A7F98ED89E}" presName="compositeNode" presStyleCnt="0">
        <dgm:presLayoutVars>
          <dgm:bulletEnabled val="1"/>
        </dgm:presLayoutVars>
      </dgm:prSet>
      <dgm:spPr/>
    </dgm:pt>
    <dgm:pt modelId="{63127216-2501-574A-866C-B362AE2C6C9C}" type="pres">
      <dgm:prSet presAssocID="{64D6BD2C-CCF1-E847-A069-80A7F98ED89E}" presName="bgRect" presStyleLbl="bgAccFollowNode1" presStyleIdx="0" presStyleCnt="3"/>
      <dgm:spPr/>
    </dgm:pt>
    <dgm:pt modelId="{362AA612-C9A2-8A40-8731-6D815007F30A}" type="pres">
      <dgm:prSet presAssocID="{DFB65ADB-F543-604A-9EE2-E0A37231F35B}" presName="sibTransNodeCircle" presStyleLbl="alignNode1" presStyleIdx="0" presStyleCnt="6">
        <dgm:presLayoutVars>
          <dgm:chMax val="0"/>
          <dgm:bulletEnabled/>
        </dgm:presLayoutVars>
      </dgm:prSet>
      <dgm:spPr/>
    </dgm:pt>
    <dgm:pt modelId="{1ACD5BCD-B0FB-BA4B-8DD2-CACC3B08E811}" type="pres">
      <dgm:prSet presAssocID="{64D6BD2C-CCF1-E847-A069-80A7F98ED89E}" presName="bottomLine" presStyleLbl="alignNode1" presStyleIdx="1" presStyleCnt="6">
        <dgm:presLayoutVars/>
      </dgm:prSet>
      <dgm:spPr/>
    </dgm:pt>
    <dgm:pt modelId="{92570423-5933-A444-9B82-50C93AD04788}" type="pres">
      <dgm:prSet presAssocID="{64D6BD2C-CCF1-E847-A069-80A7F98ED89E}" presName="nodeText" presStyleLbl="bgAccFollowNode1" presStyleIdx="0" presStyleCnt="3">
        <dgm:presLayoutVars>
          <dgm:bulletEnabled val="1"/>
        </dgm:presLayoutVars>
      </dgm:prSet>
      <dgm:spPr/>
    </dgm:pt>
    <dgm:pt modelId="{5AB91B07-2264-A549-B098-8B15C194EE43}" type="pres">
      <dgm:prSet presAssocID="{DFB65ADB-F543-604A-9EE2-E0A37231F35B}" presName="sibTrans" presStyleCnt="0"/>
      <dgm:spPr/>
    </dgm:pt>
    <dgm:pt modelId="{2E2A40E6-60FC-2C49-A652-E2E52309DCB4}" type="pres">
      <dgm:prSet presAssocID="{5D5BE145-A2B2-DA4E-8AAD-4D739B9DDBE4}" presName="compositeNode" presStyleCnt="0">
        <dgm:presLayoutVars>
          <dgm:bulletEnabled val="1"/>
        </dgm:presLayoutVars>
      </dgm:prSet>
      <dgm:spPr/>
    </dgm:pt>
    <dgm:pt modelId="{AFA33006-8554-4B4E-BC20-39DCC5D3C1AB}" type="pres">
      <dgm:prSet presAssocID="{5D5BE145-A2B2-DA4E-8AAD-4D739B9DDBE4}" presName="bgRect" presStyleLbl="bgAccFollowNode1" presStyleIdx="1" presStyleCnt="3"/>
      <dgm:spPr/>
    </dgm:pt>
    <dgm:pt modelId="{D0972436-8C3A-FB47-9FF1-A34B063667CE}" type="pres">
      <dgm:prSet presAssocID="{BF334C48-56D3-0F4E-8288-BCB261401596}" presName="sibTransNodeCircle" presStyleLbl="alignNode1" presStyleIdx="2" presStyleCnt="6">
        <dgm:presLayoutVars>
          <dgm:chMax val="0"/>
          <dgm:bulletEnabled/>
        </dgm:presLayoutVars>
      </dgm:prSet>
      <dgm:spPr/>
    </dgm:pt>
    <dgm:pt modelId="{D54D1016-3A8F-3240-B6A2-CFCB906E3095}" type="pres">
      <dgm:prSet presAssocID="{5D5BE145-A2B2-DA4E-8AAD-4D739B9DDBE4}" presName="bottomLine" presStyleLbl="alignNode1" presStyleIdx="3" presStyleCnt="6">
        <dgm:presLayoutVars/>
      </dgm:prSet>
      <dgm:spPr/>
    </dgm:pt>
    <dgm:pt modelId="{25CDB450-4081-9B42-8A63-45AD9B093244}" type="pres">
      <dgm:prSet presAssocID="{5D5BE145-A2B2-DA4E-8AAD-4D739B9DDBE4}" presName="nodeText" presStyleLbl="bgAccFollowNode1" presStyleIdx="1" presStyleCnt="3">
        <dgm:presLayoutVars>
          <dgm:bulletEnabled val="1"/>
        </dgm:presLayoutVars>
      </dgm:prSet>
      <dgm:spPr/>
    </dgm:pt>
    <dgm:pt modelId="{DC0140BD-B8A2-1A4C-AC30-A3A1798AFF1B}" type="pres">
      <dgm:prSet presAssocID="{BF334C48-56D3-0F4E-8288-BCB261401596}" presName="sibTrans" presStyleCnt="0"/>
      <dgm:spPr/>
    </dgm:pt>
    <dgm:pt modelId="{65B8F507-EF24-8647-B339-CC9B39FC4498}" type="pres">
      <dgm:prSet presAssocID="{8E182E4C-4BEE-AB47-8C83-F7F47E930484}" presName="compositeNode" presStyleCnt="0">
        <dgm:presLayoutVars>
          <dgm:bulletEnabled val="1"/>
        </dgm:presLayoutVars>
      </dgm:prSet>
      <dgm:spPr/>
    </dgm:pt>
    <dgm:pt modelId="{C3C72567-EB02-264D-82E4-0AF3F9F3F945}" type="pres">
      <dgm:prSet presAssocID="{8E182E4C-4BEE-AB47-8C83-F7F47E930484}" presName="bgRect" presStyleLbl="bgAccFollowNode1" presStyleIdx="2" presStyleCnt="3"/>
      <dgm:spPr/>
    </dgm:pt>
    <dgm:pt modelId="{E48619E9-A44E-B847-9950-578C0595E4D7}" type="pres">
      <dgm:prSet presAssocID="{5FDA40EB-2368-E64D-A21F-ACFA45B52C37}" presName="sibTransNodeCircle" presStyleLbl="alignNode1" presStyleIdx="4" presStyleCnt="6">
        <dgm:presLayoutVars>
          <dgm:chMax val="0"/>
          <dgm:bulletEnabled/>
        </dgm:presLayoutVars>
      </dgm:prSet>
      <dgm:spPr/>
    </dgm:pt>
    <dgm:pt modelId="{D5E7D6C5-9F5B-3B41-925B-031DD38DF6EF}" type="pres">
      <dgm:prSet presAssocID="{8E182E4C-4BEE-AB47-8C83-F7F47E930484}" presName="bottomLine" presStyleLbl="alignNode1" presStyleIdx="5" presStyleCnt="6">
        <dgm:presLayoutVars/>
      </dgm:prSet>
      <dgm:spPr/>
    </dgm:pt>
    <dgm:pt modelId="{3854F9B4-314B-4D46-9844-47F1CC5D3CDE}" type="pres">
      <dgm:prSet presAssocID="{8E182E4C-4BEE-AB47-8C83-F7F47E930484}" presName="nodeText" presStyleLbl="bgAccFollowNode1" presStyleIdx="2" presStyleCnt="3">
        <dgm:presLayoutVars>
          <dgm:bulletEnabled val="1"/>
        </dgm:presLayoutVars>
      </dgm:prSet>
      <dgm:spPr/>
    </dgm:pt>
  </dgm:ptLst>
  <dgm:cxnLst>
    <dgm:cxn modelId="{6DB6FC0C-C5F5-1A45-BC8C-24DE4F7328B9}" type="presOf" srcId="{8E182E4C-4BEE-AB47-8C83-F7F47E930484}" destId="{3854F9B4-314B-4D46-9844-47F1CC5D3CDE}" srcOrd="1" destOrd="0" presId="urn:microsoft.com/office/officeart/2016/7/layout/BasicLinearProcessNumbered"/>
    <dgm:cxn modelId="{D5806216-36E7-B548-A87F-B3E0E665F2C7}" type="presOf" srcId="{5D5BE145-A2B2-DA4E-8AAD-4D739B9DDBE4}" destId="{25CDB450-4081-9B42-8A63-45AD9B093244}" srcOrd="1" destOrd="0" presId="urn:microsoft.com/office/officeart/2016/7/layout/BasicLinearProcessNumbered"/>
    <dgm:cxn modelId="{1FF6EF1D-E4EE-6E4D-B689-E5E4BF22092C}" type="presOf" srcId="{64D6BD2C-CCF1-E847-A069-80A7F98ED89E}" destId="{92570423-5933-A444-9B82-50C93AD04788}" srcOrd="1" destOrd="0" presId="urn:microsoft.com/office/officeart/2016/7/layout/BasicLinearProcessNumbered"/>
    <dgm:cxn modelId="{F310FD30-3454-DC42-9F07-10FCB40F26BE}" type="presOf" srcId="{8E182E4C-4BEE-AB47-8C83-F7F47E930484}" destId="{C3C72567-EB02-264D-82E4-0AF3F9F3F945}" srcOrd="0" destOrd="0" presId="urn:microsoft.com/office/officeart/2016/7/layout/BasicLinearProcessNumbered"/>
    <dgm:cxn modelId="{3D2BB243-C5A7-0E4A-B725-B81069A977CC}" srcId="{21AFF5A5-C24C-4225-B9C2-9C14527E545E}" destId="{8E182E4C-4BEE-AB47-8C83-F7F47E930484}" srcOrd="2" destOrd="0" parTransId="{6650E920-D44D-904F-A777-066669DC0C17}" sibTransId="{5FDA40EB-2368-E64D-A21F-ACFA45B52C37}"/>
    <dgm:cxn modelId="{71D6C854-63A7-8F40-931A-6AA1547AFD26}" type="presOf" srcId="{5D5BE145-A2B2-DA4E-8AAD-4D739B9DDBE4}" destId="{AFA33006-8554-4B4E-BC20-39DCC5D3C1AB}" srcOrd="0" destOrd="0" presId="urn:microsoft.com/office/officeart/2016/7/layout/BasicLinearProcessNumbered"/>
    <dgm:cxn modelId="{8E421F5F-7582-394A-B59F-6B12EF165BEE}" type="presOf" srcId="{64D6BD2C-CCF1-E847-A069-80A7F98ED89E}" destId="{63127216-2501-574A-866C-B362AE2C6C9C}" srcOrd="0" destOrd="0" presId="urn:microsoft.com/office/officeart/2016/7/layout/BasicLinearProcessNumbered"/>
    <dgm:cxn modelId="{26859369-5B63-F747-86BF-6A3A1AF4C958}" type="presOf" srcId="{5FDA40EB-2368-E64D-A21F-ACFA45B52C37}" destId="{E48619E9-A44E-B847-9950-578C0595E4D7}" srcOrd="0" destOrd="0" presId="urn:microsoft.com/office/officeart/2016/7/layout/BasicLinearProcessNumbered"/>
    <dgm:cxn modelId="{D88AE68C-B412-034F-B8C8-C4D3548D1763}" type="presOf" srcId="{21AFF5A5-C24C-4225-B9C2-9C14527E545E}" destId="{2F47FF8F-B863-8D44-9111-85716D9CE7BF}" srcOrd="0" destOrd="0" presId="urn:microsoft.com/office/officeart/2016/7/layout/BasicLinearProcessNumbered"/>
    <dgm:cxn modelId="{45310D9F-62C4-6E43-8339-26DFCBBC37B3}" srcId="{21AFF5A5-C24C-4225-B9C2-9C14527E545E}" destId="{64D6BD2C-CCF1-E847-A069-80A7F98ED89E}" srcOrd="0" destOrd="0" parTransId="{33AC3800-E126-FB4F-A07D-1D5B1C4F9D65}" sibTransId="{DFB65ADB-F543-604A-9EE2-E0A37231F35B}"/>
    <dgm:cxn modelId="{491D22D8-2F0A-2F49-9929-CC3B53DEE9B3}" type="presOf" srcId="{DFB65ADB-F543-604A-9EE2-E0A37231F35B}" destId="{362AA612-C9A2-8A40-8731-6D815007F30A}" srcOrd="0" destOrd="0" presId="urn:microsoft.com/office/officeart/2016/7/layout/BasicLinearProcessNumbered"/>
    <dgm:cxn modelId="{C061EDE1-7140-314E-BB27-4E45C8A42D04}" type="presOf" srcId="{BF334C48-56D3-0F4E-8288-BCB261401596}" destId="{D0972436-8C3A-FB47-9FF1-A34B063667CE}" srcOrd="0" destOrd="0" presId="urn:microsoft.com/office/officeart/2016/7/layout/BasicLinearProcessNumbered"/>
    <dgm:cxn modelId="{89DB0CE9-FA53-944B-A348-B031736786DF}" srcId="{21AFF5A5-C24C-4225-B9C2-9C14527E545E}" destId="{5D5BE145-A2B2-DA4E-8AAD-4D739B9DDBE4}" srcOrd="1" destOrd="0" parTransId="{6774CC65-90AB-8449-91F4-3444F526A480}" sibTransId="{BF334C48-56D3-0F4E-8288-BCB261401596}"/>
    <dgm:cxn modelId="{5E2B9735-40CB-BC48-959B-8B20072B9706}" type="presParOf" srcId="{2F47FF8F-B863-8D44-9111-85716D9CE7BF}" destId="{4A34FE78-D9FF-5C47-B7C8-06740290B531}" srcOrd="0" destOrd="0" presId="urn:microsoft.com/office/officeart/2016/7/layout/BasicLinearProcessNumbered"/>
    <dgm:cxn modelId="{5426970D-53D8-FF47-B51A-35D6A54EE53B}" type="presParOf" srcId="{4A34FE78-D9FF-5C47-B7C8-06740290B531}" destId="{63127216-2501-574A-866C-B362AE2C6C9C}" srcOrd="0" destOrd="0" presId="urn:microsoft.com/office/officeart/2016/7/layout/BasicLinearProcessNumbered"/>
    <dgm:cxn modelId="{71B83D75-E819-0A4D-8E02-47953FEDA914}" type="presParOf" srcId="{4A34FE78-D9FF-5C47-B7C8-06740290B531}" destId="{362AA612-C9A2-8A40-8731-6D815007F30A}" srcOrd="1" destOrd="0" presId="urn:microsoft.com/office/officeart/2016/7/layout/BasicLinearProcessNumbered"/>
    <dgm:cxn modelId="{5F7EF3E6-FA79-6443-8D26-228B690AC494}" type="presParOf" srcId="{4A34FE78-D9FF-5C47-B7C8-06740290B531}" destId="{1ACD5BCD-B0FB-BA4B-8DD2-CACC3B08E811}" srcOrd="2" destOrd="0" presId="urn:microsoft.com/office/officeart/2016/7/layout/BasicLinearProcessNumbered"/>
    <dgm:cxn modelId="{6F7899E7-EE19-AC45-B78D-8F66BD557BD5}" type="presParOf" srcId="{4A34FE78-D9FF-5C47-B7C8-06740290B531}" destId="{92570423-5933-A444-9B82-50C93AD04788}" srcOrd="3" destOrd="0" presId="urn:microsoft.com/office/officeart/2016/7/layout/BasicLinearProcessNumbered"/>
    <dgm:cxn modelId="{26BB1C76-91D3-CA43-A774-D950947A3355}" type="presParOf" srcId="{2F47FF8F-B863-8D44-9111-85716D9CE7BF}" destId="{5AB91B07-2264-A549-B098-8B15C194EE43}" srcOrd="1" destOrd="0" presId="urn:microsoft.com/office/officeart/2016/7/layout/BasicLinearProcessNumbered"/>
    <dgm:cxn modelId="{287FF629-0428-F44F-BC0E-20AD3A20597F}" type="presParOf" srcId="{2F47FF8F-B863-8D44-9111-85716D9CE7BF}" destId="{2E2A40E6-60FC-2C49-A652-E2E52309DCB4}" srcOrd="2" destOrd="0" presId="urn:microsoft.com/office/officeart/2016/7/layout/BasicLinearProcessNumbered"/>
    <dgm:cxn modelId="{558E3292-F312-934B-A857-7ED503A5510C}" type="presParOf" srcId="{2E2A40E6-60FC-2C49-A652-E2E52309DCB4}" destId="{AFA33006-8554-4B4E-BC20-39DCC5D3C1AB}" srcOrd="0" destOrd="0" presId="urn:microsoft.com/office/officeart/2016/7/layout/BasicLinearProcessNumbered"/>
    <dgm:cxn modelId="{173B30B4-3B30-6C47-B775-5E2B2770CA9C}" type="presParOf" srcId="{2E2A40E6-60FC-2C49-A652-E2E52309DCB4}" destId="{D0972436-8C3A-FB47-9FF1-A34B063667CE}" srcOrd="1" destOrd="0" presId="urn:microsoft.com/office/officeart/2016/7/layout/BasicLinearProcessNumbered"/>
    <dgm:cxn modelId="{8B20F8A6-286A-D34F-B835-EA5D9C6CE134}" type="presParOf" srcId="{2E2A40E6-60FC-2C49-A652-E2E52309DCB4}" destId="{D54D1016-3A8F-3240-B6A2-CFCB906E3095}" srcOrd="2" destOrd="0" presId="urn:microsoft.com/office/officeart/2016/7/layout/BasicLinearProcessNumbered"/>
    <dgm:cxn modelId="{0A66E800-DEA3-1B42-8C91-55BC72FFFD28}" type="presParOf" srcId="{2E2A40E6-60FC-2C49-A652-E2E52309DCB4}" destId="{25CDB450-4081-9B42-8A63-45AD9B093244}" srcOrd="3" destOrd="0" presId="urn:microsoft.com/office/officeart/2016/7/layout/BasicLinearProcessNumbered"/>
    <dgm:cxn modelId="{7C27736C-FCEA-8A42-A668-F0B31980EEEC}" type="presParOf" srcId="{2F47FF8F-B863-8D44-9111-85716D9CE7BF}" destId="{DC0140BD-B8A2-1A4C-AC30-A3A1798AFF1B}" srcOrd="3" destOrd="0" presId="urn:microsoft.com/office/officeart/2016/7/layout/BasicLinearProcessNumbered"/>
    <dgm:cxn modelId="{24E72F20-2364-1D49-B396-F8055B10BA48}" type="presParOf" srcId="{2F47FF8F-B863-8D44-9111-85716D9CE7BF}" destId="{65B8F507-EF24-8647-B339-CC9B39FC4498}" srcOrd="4" destOrd="0" presId="urn:microsoft.com/office/officeart/2016/7/layout/BasicLinearProcessNumbered"/>
    <dgm:cxn modelId="{1504A970-6FFA-6140-B7BB-C76299C94878}" type="presParOf" srcId="{65B8F507-EF24-8647-B339-CC9B39FC4498}" destId="{C3C72567-EB02-264D-82E4-0AF3F9F3F945}" srcOrd="0" destOrd="0" presId="urn:microsoft.com/office/officeart/2016/7/layout/BasicLinearProcessNumbered"/>
    <dgm:cxn modelId="{053BC7C7-7F0A-EF48-BDE7-669F20A3DEFF}" type="presParOf" srcId="{65B8F507-EF24-8647-B339-CC9B39FC4498}" destId="{E48619E9-A44E-B847-9950-578C0595E4D7}" srcOrd="1" destOrd="0" presId="urn:microsoft.com/office/officeart/2016/7/layout/BasicLinearProcessNumbered"/>
    <dgm:cxn modelId="{ACCD30BB-DDA3-4048-8265-A170E97A57E0}" type="presParOf" srcId="{65B8F507-EF24-8647-B339-CC9B39FC4498}" destId="{D5E7D6C5-9F5B-3B41-925B-031DD38DF6EF}" srcOrd="2" destOrd="0" presId="urn:microsoft.com/office/officeart/2016/7/layout/BasicLinearProcessNumbered"/>
    <dgm:cxn modelId="{1A0802C5-ABCB-6C4D-AFAC-04C21479B7B4}" type="presParOf" srcId="{65B8F507-EF24-8647-B339-CC9B39FC4498}" destId="{3854F9B4-314B-4D46-9844-47F1CC5D3CDE}"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8B4546-0C1C-445F-AFE5-7542B8D2F67D}"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E2BF7EF8-4BF2-7A42-B88B-594791D7BA64}">
      <dgm:prSet custT="1"/>
      <dgm:spPr/>
      <dgm:t>
        <a:bodyPr/>
        <a:lstStyle/>
        <a:p>
          <a:r>
            <a:rPr lang="en-US" sz="2000" dirty="0"/>
            <a:t>Fabelo, T., et al. (2011). </a:t>
          </a:r>
          <a:r>
            <a:rPr lang="en-US" sz="2000" i="1" dirty="0"/>
            <a:t>Breaking Schools' Rules: A Statewide Study of How School Discipline Relates to Students' Success and Juvenile Justice Involvement</a:t>
          </a:r>
          <a:r>
            <a:rPr lang="en-US" sz="2000" dirty="0"/>
            <a:t>.</a:t>
          </a:r>
        </a:p>
      </dgm:t>
    </dgm:pt>
    <dgm:pt modelId="{92584A29-138A-294D-9585-D7DF775C4214}" type="parTrans" cxnId="{FC8BDE35-B0B2-8745-B42A-21706509D0DE}">
      <dgm:prSet/>
      <dgm:spPr/>
      <dgm:t>
        <a:bodyPr/>
        <a:lstStyle/>
        <a:p>
          <a:endParaRPr lang="en-US"/>
        </a:p>
      </dgm:t>
    </dgm:pt>
    <dgm:pt modelId="{6447269F-3342-9F40-9930-00A9B15AD059}" type="sibTrans" cxnId="{FC8BDE35-B0B2-8745-B42A-21706509D0DE}">
      <dgm:prSet/>
      <dgm:spPr/>
      <dgm:t>
        <a:bodyPr/>
        <a:lstStyle/>
        <a:p>
          <a:endParaRPr lang="en-US"/>
        </a:p>
      </dgm:t>
    </dgm:pt>
    <dgm:pt modelId="{41D7E48C-4F79-B444-8229-9605692311D8}">
      <dgm:prSet custT="1"/>
      <dgm:spPr/>
      <dgm:t>
        <a:bodyPr/>
        <a:lstStyle/>
        <a:p>
          <a:r>
            <a:rPr lang="en-US" sz="2000" dirty="0"/>
            <a:t>Skiba, R. J., &amp; Peterson, R. L. (2011). </a:t>
          </a:r>
          <a:r>
            <a:rPr lang="en-US" sz="2000" i="1" dirty="0"/>
            <a:t>Teaching the Social Implications of School Discipline: A Review of Evidence</a:t>
          </a:r>
          <a:r>
            <a:rPr lang="en-US" sz="2000" dirty="0"/>
            <a:t>.</a:t>
          </a:r>
        </a:p>
      </dgm:t>
    </dgm:pt>
    <dgm:pt modelId="{4BC10669-947D-ED41-9F8A-5449D2B65E92}" type="parTrans" cxnId="{B31B3D85-862E-4E46-AD2C-12D647ABFDE1}">
      <dgm:prSet/>
      <dgm:spPr/>
      <dgm:t>
        <a:bodyPr/>
        <a:lstStyle/>
        <a:p>
          <a:endParaRPr lang="en-US"/>
        </a:p>
      </dgm:t>
    </dgm:pt>
    <dgm:pt modelId="{CB145587-BB7C-A046-8EEF-D35AF22BE96C}" type="sibTrans" cxnId="{B31B3D85-862E-4E46-AD2C-12D647ABFDE1}">
      <dgm:prSet/>
      <dgm:spPr/>
      <dgm:t>
        <a:bodyPr/>
        <a:lstStyle/>
        <a:p>
          <a:endParaRPr lang="en-US"/>
        </a:p>
      </dgm:t>
    </dgm:pt>
    <dgm:pt modelId="{1DC9C0E0-52B1-CE44-AE56-13DD7FF27796}">
      <dgm:prSet custT="1"/>
      <dgm:spPr/>
      <dgm:t>
        <a:bodyPr/>
        <a:lstStyle/>
        <a:p>
          <a:r>
            <a:rPr lang="en-US" sz="2000" dirty="0"/>
            <a:t>American Civil Liberties Union (ACLU). </a:t>
          </a:r>
          <a:r>
            <a:rPr lang="en-US" sz="2000" i="1" dirty="0"/>
            <a:t>The School-to-Prison Pipeline: The Impact of School Discipline Practices</a:t>
          </a:r>
          <a:r>
            <a:rPr lang="en-US" sz="2000" dirty="0"/>
            <a:t>.</a:t>
          </a:r>
        </a:p>
      </dgm:t>
    </dgm:pt>
    <dgm:pt modelId="{64DD6463-EDED-7A4A-B3BD-0F6C28387085}" type="parTrans" cxnId="{88D29750-E1D0-6545-BA54-410745BA33C3}">
      <dgm:prSet/>
      <dgm:spPr/>
      <dgm:t>
        <a:bodyPr/>
        <a:lstStyle/>
        <a:p>
          <a:endParaRPr lang="en-US"/>
        </a:p>
      </dgm:t>
    </dgm:pt>
    <dgm:pt modelId="{05D628F6-EC40-794F-88D9-D2237DF24C1C}" type="sibTrans" cxnId="{88D29750-E1D0-6545-BA54-410745BA33C3}">
      <dgm:prSet/>
      <dgm:spPr/>
      <dgm:t>
        <a:bodyPr/>
        <a:lstStyle/>
        <a:p>
          <a:endParaRPr lang="en-US"/>
        </a:p>
      </dgm:t>
    </dgm:pt>
    <dgm:pt modelId="{43963FD6-38EC-6941-B73B-3DF2B6440F82}">
      <dgm:prSet custT="1"/>
      <dgm:spPr/>
      <dgm:t>
        <a:bodyPr/>
        <a:lstStyle/>
        <a:p>
          <a:r>
            <a:rPr lang="en-US" sz="2000" b="0" i="0" u="none" dirty="0"/>
            <a:t>EdWeek. (2023). </a:t>
          </a:r>
          <a:r>
            <a:rPr lang="en-US" sz="2000" b="0" i="1" u="none" dirty="0"/>
            <a:t>I Combed Through 81 Studies on School Discipline. Here's What Educators Need to Know</a:t>
          </a:r>
          <a:r>
            <a:rPr lang="en-US" sz="2000" b="0" i="0" u="none" dirty="0"/>
            <a:t>.</a:t>
          </a:r>
          <a:endParaRPr lang="en-US" sz="2000" b="0" dirty="0"/>
        </a:p>
      </dgm:t>
    </dgm:pt>
    <dgm:pt modelId="{289AA670-1656-9940-9B16-539829CB870B}" type="parTrans" cxnId="{5E379534-B150-E742-84D2-C1B34C8C9A03}">
      <dgm:prSet/>
      <dgm:spPr/>
      <dgm:t>
        <a:bodyPr/>
        <a:lstStyle/>
        <a:p>
          <a:endParaRPr lang="en-US"/>
        </a:p>
      </dgm:t>
    </dgm:pt>
    <dgm:pt modelId="{8B75C09D-7C2B-9249-A938-A911F70AD801}" type="sibTrans" cxnId="{5E379534-B150-E742-84D2-C1B34C8C9A03}">
      <dgm:prSet/>
      <dgm:spPr/>
      <dgm:t>
        <a:bodyPr/>
        <a:lstStyle/>
        <a:p>
          <a:endParaRPr lang="en-US"/>
        </a:p>
      </dgm:t>
    </dgm:pt>
    <dgm:pt modelId="{705A3CBC-8C6D-784B-B4B0-64231EC16514}" type="pres">
      <dgm:prSet presAssocID="{4C8B4546-0C1C-445F-AFE5-7542B8D2F67D}" presName="vert0" presStyleCnt="0">
        <dgm:presLayoutVars>
          <dgm:dir/>
          <dgm:animOne val="branch"/>
          <dgm:animLvl val="lvl"/>
        </dgm:presLayoutVars>
      </dgm:prSet>
      <dgm:spPr/>
    </dgm:pt>
    <dgm:pt modelId="{BD889E8E-5F6E-734D-A852-69D63226F79B}" type="pres">
      <dgm:prSet presAssocID="{E2BF7EF8-4BF2-7A42-B88B-594791D7BA64}" presName="thickLine" presStyleLbl="alignNode1" presStyleIdx="0" presStyleCnt="4"/>
      <dgm:spPr/>
    </dgm:pt>
    <dgm:pt modelId="{E052A956-923D-A04C-9920-3E5F6C7621BE}" type="pres">
      <dgm:prSet presAssocID="{E2BF7EF8-4BF2-7A42-B88B-594791D7BA64}" presName="horz1" presStyleCnt="0"/>
      <dgm:spPr/>
    </dgm:pt>
    <dgm:pt modelId="{E89FE8E3-72DA-F84B-891C-D184A393358F}" type="pres">
      <dgm:prSet presAssocID="{E2BF7EF8-4BF2-7A42-B88B-594791D7BA64}" presName="tx1" presStyleLbl="revTx" presStyleIdx="0" presStyleCnt="4"/>
      <dgm:spPr/>
    </dgm:pt>
    <dgm:pt modelId="{23FAE683-69C2-A549-B689-D3ABA24D7224}" type="pres">
      <dgm:prSet presAssocID="{E2BF7EF8-4BF2-7A42-B88B-594791D7BA64}" presName="vert1" presStyleCnt="0"/>
      <dgm:spPr/>
    </dgm:pt>
    <dgm:pt modelId="{2E0A34A9-B52D-5F4B-8D78-60E73AF1F49B}" type="pres">
      <dgm:prSet presAssocID="{41D7E48C-4F79-B444-8229-9605692311D8}" presName="thickLine" presStyleLbl="alignNode1" presStyleIdx="1" presStyleCnt="4"/>
      <dgm:spPr/>
    </dgm:pt>
    <dgm:pt modelId="{7A646C5E-CCB8-BD4F-A83F-D8E4FF932ABE}" type="pres">
      <dgm:prSet presAssocID="{41D7E48C-4F79-B444-8229-9605692311D8}" presName="horz1" presStyleCnt="0"/>
      <dgm:spPr/>
    </dgm:pt>
    <dgm:pt modelId="{11D3A4F1-6A52-4A4C-8F20-5D91E75B7A84}" type="pres">
      <dgm:prSet presAssocID="{41D7E48C-4F79-B444-8229-9605692311D8}" presName="tx1" presStyleLbl="revTx" presStyleIdx="1" presStyleCnt="4"/>
      <dgm:spPr/>
    </dgm:pt>
    <dgm:pt modelId="{9A9CB51C-64A0-2D48-85D6-22550924142E}" type="pres">
      <dgm:prSet presAssocID="{41D7E48C-4F79-B444-8229-9605692311D8}" presName="vert1" presStyleCnt="0"/>
      <dgm:spPr/>
    </dgm:pt>
    <dgm:pt modelId="{52233E92-764A-2E4D-A525-A0DCD28A1720}" type="pres">
      <dgm:prSet presAssocID="{1DC9C0E0-52B1-CE44-AE56-13DD7FF27796}" presName="thickLine" presStyleLbl="alignNode1" presStyleIdx="2" presStyleCnt="4"/>
      <dgm:spPr/>
    </dgm:pt>
    <dgm:pt modelId="{214B5704-F6FE-FD4A-A747-A3F05255AEE1}" type="pres">
      <dgm:prSet presAssocID="{1DC9C0E0-52B1-CE44-AE56-13DD7FF27796}" presName="horz1" presStyleCnt="0"/>
      <dgm:spPr/>
    </dgm:pt>
    <dgm:pt modelId="{A95482A5-149F-A44C-88A8-2ADFE9615035}" type="pres">
      <dgm:prSet presAssocID="{1DC9C0E0-52B1-CE44-AE56-13DD7FF27796}" presName="tx1" presStyleLbl="revTx" presStyleIdx="2" presStyleCnt="4"/>
      <dgm:spPr/>
    </dgm:pt>
    <dgm:pt modelId="{C4472B23-ED73-7B4B-BB83-C13DA40DC183}" type="pres">
      <dgm:prSet presAssocID="{1DC9C0E0-52B1-CE44-AE56-13DD7FF27796}" presName="vert1" presStyleCnt="0"/>
      <dgm:spPr/>
    </dgm:pt>
    <dgm:pt modelId="{C067CB18-3376-DB4E-B175-FD98D969F254}" type="pres">
      <dgm:prSet presAssocID="{43963FD6-38EC-6941-B73B-3DF2B6440F82}" presName="thickLine" presStyleLbl="alignNode1" presStyleIdx="3" presStyleCnt="4"/>
      <dgm:spPr/>
    </dgm:pt>
    <dgm:pt modelId="{E35EF855-777D-5541-9B20-F99B87C9957B}" type="pres">
      <dgm:prSet presAssocID="{43963FD6-38EC-6941-B73B-3DF2B6440F82}" presName="horz1" presStyleCnt="0"/>
      <dgm:spPr/>
    </dgm:pt>
    <dgm:pt modelId="{6C2C4134-1E05-1E4D-8384-0259611462A7}" type="pres">
      <dgm:prSet presAssocID="{43963FD6-38EC-6941-B73B-3DF2B6440F82}" presName="tx1" presStyleLbl="revTx" presStyleIdx="3" presStyleCnt="4"/>
      <dgm:spPr/>
    </dgm:pt>
    <dgm:pt modelId="{F4E290CF-0C27-B441-8CC9-F42CD14A2864}" type="pres">
      <dgm:prSet presAssocID="{43963FD6-38EC-6941-B73B-3DF2B6440F82}" presName="vert1" presStyleCnt="0"/>
      <dgm:spPr/>
    </dgm:pt>
  </dgm:ptLst>
  <dgm:cxnLst>
    <dgm:cxn modelId="{5E379534-B150-E742-84D2-C1B34C8C9A03}" srcId="{4C8B4546-0C1C-445F-AFE5-7542B8D2F67D}" destId="{43963FD6-38EC-6941-B73B-3DF2B6440F82}" srcOrd="3" destOrd="0" parTransId="{289AA670-1656-9940-9B16-539829CB870B}" sibTransId="{8B75C09D-7C2B-9249-A938-A911F70AD801}"/>
    <dgm:cxn modelId="{FC8BDE35-B0B2-8745-B42A-21706509D0DE}" srcId="{4C8B4546-0C1C-445F-AFE5-7542B8D2F67D}" destId="{E2BF7EF8-4BF2-7A42-B88B-594791D7BA64}" srcOrd="0" destOrd="0" parTransId="{92584A29-138A-294D-9585-D7DF775C4214}" sibTransId="{6447269F-3342-9F40-9930-00A9B15AD059}"/>
    <dgm:cxn modelId="{225B773E-14D3-E24E-B4C3-CB898FABC156}" type="presOf" srcId="{1DC9C0E0-52B1-CE44-AE56-13DD7FF27796}" destId="{A95482A5-149F-A44C-88A8-2ADFE9615035}" srcOrd="0" destOrd="0" presId="urn:microsoft.com/office/officeart/2008/layout/LinedList"/>
    <dgm:cxn modelId="{88D29750-E1D0-6545-BA54-410745BA33C3}" srcId="{4C8B4546-0C1C-445F-AFE5-7542B8D2F67D}" destId="{1DC9C0E0-52B1-CE44-AE56-13DD7FF27796}" srcOrd="2" destOrd="0" parTransId="{64DD6463-EDED-7A4A-B3BD-0F6C28387085}" sibTransId="{05D628F6-EC40-794F-88D9-D2237DF24C1C}"/>
    <dgm:cxn modelId="{7CD27252-C9D4-9E4C-A552-30C7D1B70477}" type="presOf" srcId="{43963FD6-38EC-6941-B73B-3DF2B6440F82}" destId="{6C2C4134-1E05-1E4D-8384-0259611462A7}" srcOrd="0" destOrd="0" presId="urn:microsoft.com/office/officeart/2008/layout/LinedList"/>
    <dgm:cxn modelId="{2916A358-67D7-8D47-AD38-4DA815AAE0E1}" type="presOf" srcId="{E2BF7EF8-4BF2-7A42-B88B-594791D7BA64}" destId="{E89FE8E3-72DA-F84B-891C-D184A393358F}" srcOrd="0" destOrd="0" presId="urn:microsoft.com/office/officeart/2008/layout/LinedList"/>
    <dgm:cxn modelId="{9A746C75-D60E-694C-9277-2D5A3A326725}" type="presOf" srcId="{41D7E48C-4F79-B444-8229-9605692311D8}" destId="{11D3A4F1-6A52-4A4C-8F20-5D91E75B7A84}" srcOrd="0" destOrd="0" presId="urn:microsoft.com/office/officeart/2008/layout/LinedList"/>
    <dgm:cxn modelId="{B31B3D85-862E-4E46-AD2C-12D647ABFDE1}" srcId="{4C8B4546-0C1C-445F-AFE5-7542B8D2F67D}" destId="{41D7E48C-4F79-B444-8229-9605692311D8}" srcOrd="1" destOrd="0" parTransId="{4BC10669-947D-ED41-9F8A-5449D2B65E92}" sibTransId="{CB145587-BB7C-A046-8EEF-D35AF22BE96C}"/>
    <dgm:cxn modelId="{B7914DF7-62D7-734D-8E7F-07F27A72F587}" type="presOf" srcId="{4C8B4546-0C1C-445F-AFE5-7542B8D2F67D}" destId="{705A3CBC-8C6D-784B-B4B0-64231EC16514}" srcOrd="0" destOrd="0" presId="urn:microsoft.com/office/officeart/2008/layout/LinedList"/>
    <dgm:cxn modelId="{BE57C25B-261D-7443-869D-1292E904ECB5}" type="presParOf" srcId="{705A3CBC-8C6D-784B-B4B0-64231EC16514}" destId="{BD889E8E-5F6E-734D-A852-69D63226F79B}" srcOrd="0" destOrd="0" presId="urn:microsoft.com/office/officeart/2008/layout/LinedList"/>
    <dgm:cxn modelId="{6B13D358-7686-D54D-A273-E268EC96FA1A}" type="presParOf" srcId="{705A3CBC-8C6D-784B-B4B0-64231EC16514}" destId="{E052A956-923D-A04C-9920-3E5F6C7621BE}" srcOrd="1" destOrd="0" presId="urn:microsoft.com/office/officeart/2008/layout/LinedList"/>
    <dgm:cxn modelId="{4A58D132-9B44-0544-8EB3-DA379A69D872}" type="presParOf" srcId="{E052A956-923D-A04C-9920-3E5F6C7621BE}" destId="{E89FE8E3-72DA-F84B-891C-D184A393358F}" srcOrd="0" destOrd="0" presId="urn:microsoft.com/office/officeart/2008/layout/LinedList"/>
    <dgm:cxn modelId="{08841E7C-3713-2B42-8BF5-F73A0D83630D}" type="presParOf" srcId="{E052A956-923D-A04C-9920-3E5F6C7621BE}" destId="{23FAE683-69C2-A549-B689-D3ABA24D7224}" srcOrd="1" destOrd="0" presId="urn:microsoft.com/office/officeart/2008/layout/LinedList"/>
    <dgm:cxn modelId="{CCE7A0E7-532F-3942-9836-16EB46607D3C}" type="presParOf" srcId="{705A3CBC-8C6D-784B-B4B0-64231EC16514}" destId="{2E0A34A9-B52D-5F4B-8D78-60E73AF1F49B}" srcOrd="2" destOrd="0" presId="urn:microsoft.com/office/officeart/2008/layout/LinedList"/>
    <dgm:cxn modelId="{544A7639-FA2A-2944-8DA2-47B041352561}" type="presParOf" srcId="{705A3CBC-8C6D-784B-B4B0-64231EC16514}" destId="{7A646C5E-CCB8-BD4F-A83F-D8E4FF932ABE}" srcOrd="3" destOrd="0" presId="urn:microsoft.com/office/officeart/2008/layout/LinedList"/>
    <dgm:cxn modelId="{DFFA39B0-D0B9-3D4D-8F18-0921A18BEB5D}" type="presParOf" srcId="{7A646C5E-CCB8-BD4F-A83F-D8E4FF932ABE}" destId="{11D3A4F1-6A52-4A4C-8F20-5D91E75B7A84}" srcOrd="0" destOrd="0" presId="urn:microsoft.com/office/officeart/2008/layout/LinedList"/>
    <dgm:cxn modelId="{EA74CD2E-CD04-4349-9DD4-B4B92E9ABE1C}" type="presParOf" srcId="{7A646C5E-CCB8-BD4F-A83F-D8E4FF932ABE}" destId="{9A9CB51C-64A0-2D48-85D6-22550924142E}" srcOrd="1" destOrd="0" presId="urn:microsoft.com/office/officeart/2008/layout/LinedList"/>
    <dgm:cxn modelId="{B8832542-D5C7-644A-B3CD-0D30C1A4DA7B}" type="presParOf" srcId="{705A3CBC-8C6D-784B-B4B0-64231EC16514}" destId="{52233E92-764A-2E4D-A525-A0DCD28A1720}" srcOrd="4" destOrd="0" presId="urn:microsoft.com/office/officeart/2008/layout/LinedList"/>
    <dgm:cxn modelId="{8C5D3D96-BFE8-9342-BBFB-F78E87B5A824}" type="presParOf" srcId="{705A3CBC-8C6D-784B-B4B0-64231EC16514}" destId="{214B5704-F6FE-FD4A-A747-A3F05255AEE1}" srcOrd="5" destOrd="0" presId="urn:microsoft.com/office/officeart/2008/layout/LinedList"/>
    <dgm:cxn modelId="{36522644-6230-2C45-B0BC-B339BEF031A7}" type="presParOf" srcId="{214B5704-F6FE-FD4A-A747-A3F05255AEE1}" destId="{A95482A5-149F-A44C-88A8-2ADFE9615035}" srcOrd="0" destOrd="0" presId="urn:microsoft.com/office/officeart/2008/layout/LinedList"/>
    <dgm:cxn modelId="{0A83C9F4-9DC4-9E45-B9B6-CA209A15FE3E}" type="presParOf" srcId="{214B5704-F6FE-FD4A-A747-A3F05255AEE1}" destId="{C4472B23-ED73-7B4B-BB83-C13DA40DC183}" srcOrd="1" destOrd="0" presId="urn:microsoft.com/office/officeart/2008/layout/LinedList"/>
    <dgm:cxn modelId="{243FD867-F945-7342-AD7B-5EF0DA43E277}" type="presParOf" srcId="{705A3CBC-8C6D-784B-B4B0-64231EC16514}" destId="{C067CB18-3376-DB4E-B175-FD98D969F254}" srcOrd="6" destOrd="0" presId="urn:microsoft.com/office/officeart/2008/layout/LinedList"/>
    <dgm:cxn modelId="{C0B0C44E-45FD-624F-A5CA-204ACA45BB11}" type="presParOf" srcId="{705A3CBC-8C6D-784B-B4B0-64231EC16514}" destId="{E35EF855-777D-5541-9B20-F99B87C9957B}" srcOrd="7" destOrd="0" presId="urn:microsoft.com/office/officeart/2008/layout/LinedList"/>
    <dgm:cxn modelId="{6C7CD04C-2389-2C42-B7AC-008FE4609E20}" type="presParOf" srcId="{E35EF855-777D-5541-9B20-F99B87C9957B}" destId="{6C2C4134-1E05-1E4D-8384-0259611462A7}" srcOrd="0" destOrd="0" presId="urn:microsoft.com/office/officeart/2008/layout/LinedList"/>
    <dgm:cxn modelId="{9291607B-C517-6249-81E8-B2EAF43CC587}" type="presParOf" srcId="{E35EF855-777D-5541-9B20-F99B87C9957B}" destId="{F4E290CF-0C27-B441-8CC9-F42CD14A28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127216-2501-574A-866C-B362AE2C6C9C}">
      <dsp:nvSpPr>
        <dsp:cNvPr id="0" name=""/>
        <dsp:cNvSpPr/>
      </dsp:nvSpPr>
      <dsp:spPr>
        <a:xfrm>
          <a:off x="0" y="0"/>
          <a:ext cx="3446859" cy="3678238"/>
        </a:xfrm>
        <a:prstGeom prst="rect">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622300">
            <a:lnSpc>
              <a:spcPct val="90000"/>
            </a:lnSpc>
            <a:spcBef>
              <a:spcPct val="0"/>
            </a:spcBef>
            <a:spcAft>
              <a:spcPct val="35000"/>
            </a:spcAft>
            <a:buNone/>
          </a:pPr>
          <a:r>
            <a:rPr lang="en-US" sz="1400" b="0" i="0" u="none" kern="1200" dirty="0"/>
            <a:t>By Center for Public Justice in "Classroom Or Courtroom? Problems &amp; Solutions To The School-To-Prison Pipeline":</a:t>
          </a:r>
          <a:br>
            <a:rPr lang="en-US" sz="1400" b="0" i="0" kern="1200" dirty="0"/>
          </a:br>
          <a:r>
            <a:rPr lang="en-US" sz="1400" b="0" i="0" u="none" kern="1200" dirty="0"/>
            <a:t>"School discipline practices that rely on suspensions and expulsions contribute to pushing students out of the classroom and into the criminal justice system."</a:t>
          </a:r>
          <a:endParaRPr lang="en-US" sz="1400" b="0" i="0" kern="1200" dirty="0"/>
        </a:p>
      </dsp:txBody>
      <dsp:txXfrm>
        <a:off x="0" y="1397730"/>
        <a:ext cx="3446859" cy="2206942"/>
      </dsp:txXfrm>
    </dsp:sp>
    <dsp:sp modelId="{362AA612-C9A2-8A40-8731-6D815007F30A}">
      <dsp:nvSpPr>
        <dsp:cNvPr id="0" name=""/>
        <dsp:cNvSpPr/>
      </dsp:nvSpPr>
      <dsp:spPr>
        <a:xfrm>
          <a:off x="1171693" y="367823"/>
          <a:ext cx="1103471" cy="1103471"/>
        </a:xfrm>
        <a:prstGeom prst="ellipse">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31" tIns="12700" rIns="86031"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333293" y="529423"/>
        <a:ext cx="780271" cy="780271"/>
      </dsp:txXfrm>
    </dsp:sp>
    <dsp:sp modelId="{1ACD5BCD-B0FB-BA4B-8DD2-CACC3B08E811}">
      <dsp:nvSpPr>
        <dsp:cNvPr id="0" name=""/>
        <dsp:cNvSpPr/>
      </dsp:nvSpPr>
      <dsp:spPr>
        <a:xfrm>
          <a:off x="0" y="3678166"/>
          <a:ext cx="3446859" cy="72"/>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A33006-8554-4B4E-BC20-39DCC5D3C1AB}">
      <dsp:nvSpPr>
        <dsp:cNvPr id="0" name=""/>
        <dsp:cNvSpPr/>
      </dsp:nvSpPr>
      <dsp:spPr>
        <a:xfrm>
          <a:off x="3791545" y="0"/>
          <a:ext cx="3446859" cy="3678238"/>
        </a:xfrm>
        <a:prstGeom prst="rect">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622300">
            <a:lnSpc>
              <a:spcPct val="90000"/>
            </a:lnSpc>
            <a:spcBef>
              <a:spcPct val="0"/>
            </a:spcBef>
            <a:spcAft>
              <a:spcPct val="35000"/>
            </a:spcAft>
            <a:buNone/>
          </a:pPr>
          <a:r>
            <a:rPr lang="en-US" sz="1400" b="0" i="0" u="none" kern="1200" dirty="0"/>
            <a:t>By Legal Defense Fund in "Case: School To Prison Pipeline":</a:t>
          </a:r>
          <a:br>
            <a:rPr lang="en-US" sz="1400" b="0" i="0" kern="1200" dirty="0"/>
          </a:br>
          <a:r>
            <a:rPr lang="en-US" sz="1400" b="0" i="0" u="none" kern="1200" dirty="0"/>
            <a:t>"Many of the policies and practices that create the school-to-prison pipeline disproportionately impact students of color and those with disabilities."</a:t>
          </a:r>
          <a:endParaRPr lang="en-US" sz="1400" b="0" i="0" kern="1200" dirty="0"/>
        </a:p>
      </dsp:txBody>
      <dsp:txXfrm>
        <a:off x="3791545" y="1397730"/>
        <a:ext cx="3446859" cy="2206942"/>
      </dsp:txXfrm>
    </dsp:sp>
    <dsp:sp modelId="{D0972436-8C3A-FB47-9FF1-A34B063667CE}">
      <dsp:nvSpPr>
        <dsp:cNvPr id="0" name=""/>
        <dsp:cNvSpPr/>
      </dsp:nvSpPr>
      <dsp:spPr>
        <a:xfrm>
          <a:off x="4963239" y="367823"/>
          <a:ext cx="1103471" cy="1103471"/>
        </a:xfrm>
        <a:prstGeom prst="ellipse">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31" tIns="12700" rIns="86031"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124839" y="529423"/>
        <a:ext cx="780271" cy="780271"/>
      </dsp:txXfrm>
    </dsp:sp>
    <dsp:sp modelId="{D54D1016-3A8F-3240-B6A2-CFCB906E3095}">
      <dsp:nvSpPr>
        <dsp:cNvPr id="0" name=""/>
        <dsp:cNvSpPr/>
      </dsp:nvSpPr>
      <dsp:spPr>
        <a:xfrm>
          <a:off x="3791545" y="3678166"/>
          <a:ext cx="3446859" cy="72"/>
        </a:xfrm>
        <a:prstGeom prst="rect">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C72567-EB02-264D-82E4-0AF3F9F3F945}">
      <dsp:nvSpPr>
        <dsp:cNvPr id="0" name=""/>
        <dsp:cNvSpPr/>
      </dsp:nvSpPr>
      <dsp:spPr>
        <a:xfrm>
          <a:off x="7583090" y="0"/>
          <a:ext cx="3446859" cy="3678238"/>
        </a:xfrm>
        <a:prstGeom prst="rect">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8731" tIns="330200" rIns="268731" bIns="330200" numCol="1" spcCol="1270" anchor="t" anchorCtr="0">
          <a:noAutofit/>
        </a:bodyPr>
        <a:lstStyle/>
        <a:p>
          <a:pPr marL="0" lvl="0" indent="0" algn="l" defTabSz="622300">
            <a:lnSpc>
              <a:spcPct val="90000"/>
            </a:lnSpc>
            <a:spcBef>
              <a:spcPct val="0"/>
            </a:spcBef>
            <a:spcAft>
              <a:spcPct val="35000"/>
            </a:spcAft>
            <a:buNone/>
          </a:pPr>
          <a:r>
            <a:rPr lang="en-US" sz="1400" b="0" i="0" u="none" kern="1200" dirty="0"/>
            <a:t>By Learning for Justice in "The School-To-Prison Pipeline":</a:t>
          </a:r>
          <a:br>
            <a:rPr lang="en-US" sz="1400" b="0" i="0" kern="1200" dirty="0"/>
          </a:br>
          <a:r>
            <a:rPr lang="en-US" sz="1400" b="0" i="0" u="none" kern="1200" dirty="0"/>
            <a:t>"The school-to-prison pipeline is fueled by the criminalization of behavior that is often the result of unmet needs or lack of support."</a:t>
          </a:r>
          <a:endParaRPr lang="en-US" sz="1400" b="0" i="0" kern="1200" dirty="0"/>
        </a:p>
      </dsp:txBody>
      <dsp:txXfrm>
        <a:off x="7583090" y="1397730"/>
        <a:ext cx="3446859" cy="2206942"/>
      </dsp:txXfrm>
    </dsp:sp>
    <dsp:sp modelId="{E48619E9-A44E-B847-9950-578C0595E4D7}">
      <dsp:nvSpPr>
        <dsp:cNvPr id="0" name=""/>
        <dsp:cNvSpPr/>
      </dsp:nvSpPr>
      <dsp:spPr>
        <a:xfrm>
          <a:off x="8754784" y="367823"/>
          <a:ext cx="1103471" cy="1103471"/>
        </a:xfrm>
        <a:prstGeom prst="ellipse">
          <a:avLst/>
        </a:prstGeom>
        <a:solidFill>
          <a:schemeClr val="accent6">
            <a:hueOff val="0"/>
            <a:satOff val="0"/>
            <a:lumOff val="0"/>
            <a:alphaOff val="0"/>
          </a:schemeClr>
        </a:solidFill>
        <a:ln w="2222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031" tIns="12700" rIns="86031"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916384" y="529423"/>
        <a:ext cx="780271" cy="780271"/>
      </dsp:txXfrm>
    </dsp:sp>
    <dsp:sp modelId="{D5E7D6C5-9F5B-3B41-925B-031DD38DF6EF}">
      <dsp:nvSpPr>
        <dsp:cNvPr id="0" name=""/>
        <dsp:cNvSpPr/>
      </dsp:nvSpPr>
      <dsp:spPr>
        <a:xfrm>
          <a:off x="7583090" y="3678166"/>
          <a:ext cx="3446859" cy="72"/>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889E8E-5F6E-734D-A852-69D63226F79B}">
      <dsp:nvSpPr>
        <dsp:cNvPr id="0" name=""/>
        <dsp:cNvSpPr/>
      </dsp:nvSpPr>
      <dsp:spPr>
        <a:xfrm>
          <a:off x="0" y="0"/>
          <a:ext cx="11029950" cy="0"/>
        </a:xfrm>
        <a:prstGeom prst="line">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FE8E3-72DA-F84B-891C-D184A393358F}">
      <dsp:nvSpPr>
        <dsp:cNvPr id="0" name=""/>
        <dsp:cNvSpPr/>
      </dsp:nvSpPr>
      <dsp:spPr>
        <a:xfrm>
          <a:off x="0" y="0"/>
          <a:ext cx="11029950" cy="919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Fabelo, T., et al. (2011). </a:t>
          </a:r>
          <a:r>
            <a:rPr lang="en-US" sz="2000" i="1" kern="1200" dirty="0"/>
            <a:t>Breaking Schools' Rules: A Statewide Study of How School Discipline Relates to Students' Success and Juvenile Justice Involvement</a:t>
          </a:r>
          <a:r>
            <a:rPr lang="en-US" sz="2000" kern="1200" dirty="0"/>
            <a:t>.</a:t>
          </a:r>
        </a:p>
      </dsp:txBody>
      <dsp:txXfrm>
        <a:off x="0" y="0"/>
        <a:ext cx="11029950" cy="919559"/>
      </dsp:txXfrm>
    </dsp:sp>
    <dsp:sp modelId="{2E0A34A9-B52D-5F4B-8D78-60E73AF1F49B}">
      <dsp:nvSpPr>
        <dsp:cNvPr id="0" name=""/>
        <dsp:cNvSpPr/>
      </dsp:nvSpPr>
      <dsp:spPr>
        <a:xfrm>
          <a:off x="0" y="919559"/>
          <a:ext cx="11029950" cy="0"/>
        </a:xfrm>
        <a:prstGeom prst="line">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3A4F1-6A52-4A4C-8F20-5D91E75B7A84}">
      <dsp:nvSpPr>
        <dsp:cNvPr id="0" name=""/>
        <dsp:cNvSpPr/>
      </dsp:nvSpPr>
      <dsp:spPr>
        <a:xfrm>
          <a:off x="0" y="919559"/>
          <a:ext cx="11029950" cy="919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Skiba, R. J., &amp; Peterson, R. L. (2011). </a:t>
          </a:r>
          <a:r>
            <a:rPr lang="en-US" sz="2000" i="1" kern="1200" dirty="0"/>
            <a:t>Teaching the Social Implications of School Discipline: A Review of Evidence</a:t>
          </a:r>
          <a:r>
            <a:rPr lang="en-US" sz="2000" kern="1200" dirty="0"/>
            <a:t>.</a:t>
          </a:r>
        </a:p>
      </dsp:txBody>
      <dsp:txXfrm>
        <a:off x="0" y="919559"/>
        <a:ext cx="11029950" cy="919559"/>
      </dsp:txXfrm>
    </dsp:sp>
    <dsp:sp modelId="{52233E92-764A-2E4D-A525-A0DCD28A1720}">
      <dsp:nvSpPr>
        <dsp:cNvPr id="0" name=""/>
        <dsp:cNvSpPr/>
      </dsp:nvSpPr>
      <dsp:spPr>
        <a:xfrm>
          <a:off x="0" y="1839119"/>
          <a:ext cx="11029950" cy="0"/>
        </a:xfrm>
        <a:prstGeom prst="line">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5482A5-149F-A44C-88A8-2ADFE9615035}">
      <dsp:nvSpPr>
        <dsp:cNvPr id="0" name=""/>
        <dsp:cNvSpPr/>
      </dsp:nvSpPr>
      <dsp:spPr>
        <a:xfrm>
          <a:off x="0" y="1839119"/>
          <a:ext cx="11029950" cy="919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American Civil Liberties Union (ACLU). </a:t>
          </a:r>
          <a:r>
            <a:rPr lang="en-US" sz="2000" i="1" kern="1200" dirty="0"/>
            <a:t>The School-to-Prison Pipeline: The Impact of School Discipline Practices</a:t>
          </a:r>
          <a:r>
            <a:rPr lang="en-US" sz="2000" kern="1200" dirty="0"/>
            <a:t>.</a:t>
          </a:r>
        </a:p>
      </dsp:txBody>
      <dsp:txXfrm>
        <a:off x="0" y="1839119"/>
        <a:ext cx="11029950" cy="919559"/>
      </dsp:txXfrm>
    </dsp:sp>
    <dsp:sp modelId="{C067CB18-3376-DB4E-B175-FD98D969F254}">
      <dsp:nvSpPr>
        <dsp:cNvPr id="0" name=""/>
        <dsp:cNvSpPr/>
      </dsp:nvSpPr>
      <dsp:spPr>
        <a:xfrm>
          <a:off x="0" y="2758678"/>
          <a:ext cx="11029950" cy="0"/>
        </a:xfrm>
        <a:prstGeom prst="line">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2C4134-1E05-1E4D-8384-0259611462A7}">
      <dsp:nvSpPr>
        <dsp:cNvPr id="0" name=""/>
        <dsp:cNvSpPr/>
      </dsp:nvSpPr>
      <dsp:spPr>
        <a:xfrm>
          <a:off x="0" y="2758678"/>
          <a:ext cx="11029950" cy="919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0" i="0" u="none" kern="1200" dirty="0"/>
            <a:t>EdWeek. (2023). </a:t>
          </a:r>
          <a:r>
            <a:rPr lang="en-US" sz="2000" b="0" i="1" u="none" kern="1200" dirty="0"/>
            <a:t>I Combed Through 81 Studies on School Discipline. Here's What Educators Need to Know</a:t>
          </a:r>
          <a:r>
            <a:rPr lang="en-US" sz="2000" b="0" i="0" u="none" kern="1200" dirty="0"/>
            <a:t>.</a:t>
          </a:r>
          <a:endParaRPr lang="en-US" sz="2000" b="0" kern="1200" dirty="0"/>
        </a:p>
      </dsp:txBody>
      <dsp:txXfrm>
        <a:off x="0" y="2758678"/>
        <a:ext cx="11029950" cy="919559"/>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07774-5759-0345-B0C5-3259FA62F8F7}" type="datetimeFigureOut">
              <a:rPr lang="en-US" smtClean="0"/>
              <a:t>10/30/25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9BCFE-8931-404E-8A2E-548801CC107C}" type="slidenum">
              <a:rPr lang="en-US" smtClean="0"/>
              <a:t>‹#›</a:t>
            </a:fld>
            <a:endParaRPr lang="en-US" dirty="0"/>
          </a:p>
        </p:txBody>
      </p:sp>
    </p:spTree>
    <p:extLst>
      <p:ext uri="{BB962C8B-B14F-4D97-AF65-F5344CB8AC3E}">
        <p14:creationId xmlns:p14="http://schemas.microsoft.com/office/powerpoint/2010/main" val="130907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8A87A34-81AB-432B-8DAE-1953F412C126}" type="datetimeFigureOut">
              <a:rPr lang="en-US" smtClean="0"/>
              <a:t>10/30/25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438466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55280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t>10/30/25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1038652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4447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79306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65093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8544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8A87A34-81AB-432B-8DAE-1953F412C126}" type="datetimeFigureOut">
              <a:rPr lang="en-US" smtClean="0"/>
              <a:t>10/30/25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37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10/30/25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3785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10/30/25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0667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8A87A34-81AB-432B-8DAE-1953F412C126}" type="datetimeFigureOut">
              <a:rPr lang="en-US" smtClean="0"/>
              <a:t>10/30/25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149865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8A87A34-81AB-432B-8DAE-1953F412C126}" type="datetimeFigureOut">
              <a:rPr lang="en-US" smtClean="0"/>
              <a:pPr/>
              <a:t>10/30/25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6D22F896-40B5-4ADD-8801-0D06FADFA09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3606651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79958C0-67DC-4F86-AA91-C9BB89236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95E1B8D6-5183-4C9D-9631-F5831902A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392EFDAE-33B7-52FD-E62D-E624C64C925C}"/>
              </a:ext>
            </a:extLst>
          </p:cNvPr>
          <p:cNvSpPr>
            <a:spLocks noGrp="1"/>
          </p:cNvSpPr>
          <p:nvPr>
            <p:ph type="ctrTitle"/>
          </p:nvPr>
        </p:nvSpPr>
        <p:spPr>
          <a:xfrm>
            <a:off x="446533" y="1507414"/>
            <a:ext cx="7628209" cy="3703320"/>
          </a:xfrm>
        </p:spPr>
        <p:txBody>
          <a:bodyPr anchor="b">
            <a:normAutofit/>
          </a:bodyPr>
          <a:lstStyle/>
          <a:p>
            <a:r>
              <a:rPr lang="en-US" sz="5400" dirty="0">
                <a:solidFill>
                  <a:srgbClr val="FFFFFF"/>
                </a:solidFill>
              </a:rPr>
              <a:t>School- to-prison pipeline</a:t>
            </a:r>
          </a:p>
        </p:txBody>
      </p:sp>
      <p:sp>
        <p:nvSpPr>
          <p:cNvPr id="3" name="Subtitle 2">
            <a:extLst>
              <a:ext uri="{FF2B5EF4-FFF2-40B4-BE49-F238E27FC236}">
                <a16:creationId xmlns:a16="http://schemas.microsoft.com/office/drawing/2014/main" id="{3A29ECAC-8E2A-3985-520A-CEB68EDAA652}"/>
              </a:ext>
            </a:extLst>
          </p:cNvPr>
          <p:cNvSpPr>
            <a:spLocks noGrp="1"/>
          </p:cNvSpPr>
          <p:nvPr>
            <p:ph type="subTitle" idx="1"/>
          </p:nvPr>
        </p:nvSpPr>
        <p:spPr>
          <a:xfrm>
            <a:off x="8184641" y="1507414"/>
            <a:ext cx="3546077" cy="3703320"/>
          </a:xfrm>
          <a:ln w="57150">
            <a:noFill/>
          </a:ln>
        </p:spPr>
        <p:txBody>
          <a:bodyPr anchor="b">
            <a:normAutofit/>
          </a:bodyPr>
          <a:lstStyle/>
          <a:p>
            <a:r>
              <a:rPr lang="en-US" sz="2400" b="1" dirty="0">
                <a:solidFill>
                  <a:srgbClr val="FFFFFF">
                    <a:alpha val="70000"/>
                  </a:srgbClr>
                </a:solidFill>
              </a:rPr>
              <a:t>By: Saniya isaac</a:t>
            </a:r>
          </a:p>
          <a:p>
            <a:r>
              <a:rPr lang="en-US" sz="2400" b="1" dirty="0">
                <a:solidFill>
                  <a:srgbClr val="FFFFFF">
                    <a:alpha val="70000"/>
                  </a:srgbClr>
                </a:solidFill>
              </a:rPr>
              <a:t>Ctec 426</a:t>
            </a:r>
          </a:p>
          <a:p>
            <a:r>
              <a:rPr lang="en-US" sz="2400" b="1" dirty="0">
                <a:solidFill>
                  <a:srgbClr val="FFFFFF">
                    <a:alpha val="70000"/>
                  </a:srgbClr>
                </a:solidFill>
              </a:rPr>
              <a:t>Dr. miller</a:t>
            </a:r>
          </a:p>
        </p:txBody>
      </p:sp>
      <p:sp>
        <p:nvSpPr>
          <p:cNvPr id="34" name="Rectangle 33">
            <a:extLst>
              <a:ext uri="{FF2B5EF4-FFF2-40B4-BE49-F238E27FC236}">
                <a16:creationId xmlns:a16="http://schemas.microsoft.com/office/drawing/2014/main" id="{85AA17EB-F169-483D-AF02-A7EC2B2D9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6259649"/>
            <a:ext cx="7628209" cy="11165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5" name="Rectangle 34">
            <a:extLst>
              <a:ext uri="{FF2B5EF4-FFF2-40B4-BE49-F238E27FC236}">
                <a16:creationId xmlns:a16="http://schemas.microsoft.com/office/drawing/2014/main" id="{193E18B0-6B75-4819-8AF4-203AD4E0E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4640" y="6259649"/>
            <a:ext cx="3546077" cy="111654"/>
          </a:xfrm>
          <a:prstGeom prst="rect">
            <a:avLst/>
          </a:prstGeom>
          <a:solidFill>
            <a:srgbClr val="FFFFF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528648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518D-6261-988E-7499-B68252F17BC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3311009-E07E-A49A-A252-8A18AD80EB8F}"/>
              </a:ext>
            </a:extLst>
          </p:cNvPr>
          <p:cNvSpPr>
            <a:spLocks noGrp="1"/>
          </p:cNvSpPr>
          <p:nvPr>
            <p:ph idx="1"/>
          </p:nvPr>
        </p:nvSpPr>
        <p:spPr/>
        <p:txBody>
          <a:bodyPr>
            <a:normAutofit/>
          </a:bodyPr>
          <a:lstStyle/>
          <a:p>
            <a:r>
              <a:rPr lang="en-US" b="1" dirty="0"/>
              <a:t>The school-to-prison pipeline refers to how certain school disciplinary practices, like suspensions or expulsions, can push students into the juvenile justice system. Harsh discipline for minor infractions leads to missed instructional time, academic struggles, and disengagement from school. This disruption increases the chances of dropping out and getting involved in the juvenile justice system, as students may face arrests or charges for behaviors that could have been addressed in school.</a:t>
            </a:r>
          </a:p>
          <a:p>
            <a:r>
              <a:rPr lang="en-US" b="1" dirty="0"/>
              <a:t>To break this cycle, schools need to adopt alternative, restorative practices like counseling, peer mediation, and conflict resolution. Focusing on these methods can help prevent students from becoming involved in the juvenile justice system and prioritize their well-being, success, and future opportunities.</a:t>
            </a:r>
          </a:p>
          <a:p>
            <a:pPr marL="0" indent="0">
              <a:buNone/>
            </a:pPr>
            <a:endParaRPr lang="en-US" dirty="0"/>
          </a:p>
        </p:txBody>
      </p:sp>
    </p:spTree>
    <p:extLst>
      <p:ext uri="{BB962C8B-B14F-4D97-AF65-F5344CB8AC3E}">
        <p14:creationId xmlns:p14="http://schemas.microsoft.com/office/powerpoint/2010/main" val="3068814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8AF9B1-7D64-4564-969F-CB2B27ED9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Red alarm light with people on the background">
            <a:extLst>
              <a:ext uri="{FF2B5EF4-FFF2-40B4-BE49-F238E27FC236}">
                <a16:creationId xmlns:a16="http://schemas.microsoft.com/office/drawing/2014/main" id="{93CDBAD2-0410-B050-DC8D-07248F995C3B}"/>
              </a:ext>
            </a:extLst>
          </p:cNvPr>
          <p:cNvPicPr>
            <a:picLocks noChangeAspect="1"/>
          </p:cNvPicPr>
          <p:nvPr/>
        </p:nvPicPr>
        <p:blipFill>
          <a:blip r:embed="rId2"/>
          <a:srcRect t="358" b="15373"/>
          <a:stretch/>
        </p:blipFill>
        <p:spPr>
          <a:xfrm>
            <a:off x="20" y="10"/>
            <a:ext cx="12191980" cy="6857990"/>
          </a:xfrm>
          <a:prstGeom prst="rect">
            <a:avLst/>
          </a:prstGeom>
        </p:spPr>
      </p:pic>
      <p:grpSp>
        <p:nvGrpSpPr>
          <p:cNvPr id="11" name="Group 10">
            <a:extLst>
              <a:ext uri="{FF2B5EF4-FFF2-40B4-BE49-F238E27FC236}">
                <a16:creationId xmlns:a16="http://schemas.microsoft.com/office/drawing/2014/main" id="{8D854759-2D3E-4B54-A780-D84D49E80F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12" name="Rectangle 11">
              <a:extLst>
                <a:ext uri="{FF2B5EF4-FFF2-40B4-BE49-F238E27FC236}">
                  <a16:creationId xmlns:a16="http://schemas.microsoft.com/office/drawing/2014/main" id="{459856EA-FC8A-44D1-BC3D-2B8EDD0C86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3" name="Rectangle 12">
              <a:extLst>
                <a:ext uri="{FF2B5EF4-FFF2-40B4-BE49-F238E27FC236}">
                  <a16:creationId xmlns:a16="http://schemas.microsoft.com/office/drawing/2014/main" id="{C1038B56-933B-44DD-AF10-63436FCCFB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1">
            <a:extLst>
              <a:ext uri="{FF2B5EF4-FFF2-40B4-BE49-F238E27FC236}">
                <a16:creationId xmlns:a16="http://schemas.microsoft.com/office/drawing/2014/main" id="{B049CC6C-B836-C274-B7B5-8B4351590B26}"/>
              </a:ext>
            </a:extLst>
          </p:cNvPr>
          <p:cNvSpPr>
            <a:spLocks noGrp="1"/>
          </p:cNvSpPr>
          <p:nvPr>
            <p:ph type="title"/>
          </p:nvPr>
        </p:nvSpPr>
        <p:spPr>
          <a:xfrm>
            <a:off x="584200" y="1006956"/>
            <a:ext cx="3412067" cy="1372177"/>
          </a:xfrm>
        </p:spPr>
        <p:txBody>
          <a:bodyPr anchor="ctr">
            <a:normAutofit/>
          </a:bodyPr>
          <a:lstStyle/>
          <a:p>
            <a:r>
              <a:rPr lang="en-US" dirty="0">
                <a:solidFill>
                  <a:srgbClr val="FFFFFF"/>
                </a:solidFill>
              </a:rPr>
              <a:t>What is the Issue ? </a:t>
            </a:r>
          </a:p>
        </p:txBody>
      </p:sp>
      <p:sp>
        <p:nvSpPr>
          <p:cNvPr id="3" name="Content Placeholder 2">
            <a:extLst>
              <a:ext uri="{FF2B5EF4-FFF2-40B4-BE49-F238E27FC236}">
                <a16:creationId xmlns:a16="http://schemas.microsoft.com/office/drawing/2014/main" id="{134946B0-DE90-9D51-E0CE-C7DD15EFF6E8}"/>
              </a:ext>
            </a:extLst>
          </p:cNvPr>
          <p:cNvSpPr>
            <a:spLocks noGrp="1"/>
          </p:cNvSpPr>
          <p:nvPr>
            <p:ph idx="1"/>
          </p:nvPr>
        </p:nvSpPr>
        <p:spPr>
          <a:xfrm>
            <a:off x="581193" y="2438399"/>
            <a:ext cx="3415074" cy="3564467"/>
          </a:xfrm>
        </p:spPr>
        <p:txBody>
          <a:bodyPr>
            <a:normAutofit/>
          </a:bodyPr>
          <a:lstStyle/>
          <a:p>
            <a:pPr marL="0" indent="0">
              <a:buNone/>
            </a:pPr>
            <a:r>
              <a:rPr lang="en-US" dirty="0">
                <a:solidFill>
                  <a:srgbClr val="FFFFFF"/>
                </a:solidFill>
              </a:rPr>
              <a:t>Disciplinary actions like suspensions and referrals to law enforcement in schools can lead to increased involvement in the juvenile justice system for students. This contributes to the school to prison pipeline, affecting student's opportunities and futures.</a:t>
            </a:r>
          </a:p>
        </p:txBody>
      </p:sp>
    </p:spTree>
    <p:extLst>
      <p:ext uri="{BB962C8B-B14F-4D97-AF65-F5344CB8AC3E}">
        <p14:creationId xmlns:p14="http://schemas.microsoft.com/office/powerpoint/2010/main" val="202159476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6B69-E343-387C-3A7F-B6CC96F8B0BA}"/>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Literature review </a:t>
            </a:r>
          </a:p>
        </p:txBody>
      </p:sp>
      <p:graphicFrame>
        <p:nvGraphicFramePr>
          <p:cNvPr id="61" name="Content Placeholder 2">
            <a:extLst>
              <a:ext uri="{FF2B5EF4-FFF2-40B4-BE49-F238E27FC236}">
                <a16:creationId xmlns:a16="http://schemas.microsoft.com/office/drawing/2014/main" id="{A94AC616-B702-770F-9EBC-D88B4EEBA96D}"/>
              </a:ext>
            </a:extLst>
          </p:cNvPr>
          <p:cNvGraphicFramePr>
            <a:graphicFrameLocks noGrp="1"/>
          </p:cNvGraphicFramePr>
          <p:nvPr>
            <p:ph idx="1"/>
            <p:extLst>
              <p:ext uri="{D42A27DB-BD31-4B8C-83A1-F6EECF244321}">
                <p14:modId xmlns:p14="http://schemas.microsoft.com/office/powerpoint/2010/main" val="3265715616"/>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584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7E3019-9BDE-5B87-14D1-3C5ADB466AB3}"/>
              </a:ext>
            </a:extLst>
          </p:cNvPr>
          <p:cNvSpPr>
            <a:spLocks noGrp="1"/>
          </p:cNvSpPr>
          <p:nvPr>
            <p:ph type="title"/>
          </p:nvPr>
        </p:nvSpPr>
        <p:spPr>
          <a:xfrm>
            <a:off x="4449934" y="702156"/>
            <a:ext cx="7157865" cy="1013800"/>
          </a:xfrm>
        </p:spPr>
        <p:txBody>
          <a:bodyPr>
            <a:normAutofit/>
          </a:bodyPr>
          <a:lstStyle/>
          <a:p>
            <a:r>
              <a:rPr lang="en-US" dirty="0">
                <a:solidFill>
                  <a:schemeClr val="accent1"/>
                </a:solidFill>
              </a:rPr>
              <a:t>Problem statement</a:t>
            </a:r>
          </a:p>
        </p:txBody>
      </p:sp>
      <p:pic>
        <p:nvPicPr>
          <p:cNvPr id="21" name="Picture 20" descr="Colorful carved figures of humans">
            <a:extLst>
              <a:ext uri="{FF2B5EF4-FFF2-40B4-BE49-F238E27FC236}">
                <a16:creationId xmlns:a16="http://schemas.microsoft.com/office/drawing/2014/main" id="{076353A5-5E5B-B92B-AE03-742D26DB09C1}"/>
              </a:ext>
            </a:extLst>
          </p:cNvPr>
          <p:cNvPicPr>
            <a:picLocks noChangeAspect="1"/>
          </p:cNvPicPr>
          <p:nvPr/>
        </p:nvPicPr>
        <p:blipFill>
          <a:blip r:embed="rId2"/>
          <a:srcRect l="28653" r="28421"/>
          <a:stretch/>
        </p:blipFill>
        <p:spPr>
          <a:xfrm>
            <a:off x="0" y="11"/>
            <a:ext cx="4131713" cy="6857989"/>
          </a:xfrm>
          <a:prstGeom prst="rect">
            <a:avLst/>
          </a:prstGeom>
        </p:spPr>
      </p:pic>
      <p:sp>
        <p:nvSpPr>
          <p:cNvPr id="22" name="Rectangle 21">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9934" y="457200"/>
            <a:ext cx="7223760" cy="91440"/>
          </a:xfrm>
          <a:prstGeom prst="rect">
            <a:avLst/>
          </a:prstGeom>
          <a:solidFill>
            <a:srgbClr val="F39C10"/>
          </a:solidFill>
          <a:ln>
            <a:solidFill>
              <a:srgbClr val="F39C10"/>
            </a:solid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C19E3462-4D5F-0759-D27E-FFCF35E3658E}"/>
              </a:ext>
            </a:extLst>
          </p:cNvPr>
          <p:cNvSpPr>
            <a:spLocks noGrp="1"/>
          </p:cNvSpPr>
          <p:nvPr>
            <p:ph idx="1"/>
          </p:nvPr>
        </p:nvSpPr>
        <p:spPr>
          <a:xfrm>
            <a:off x="4449934" y="1896533"/>
            <a:ext cx="7157866" cy="3962266"/>
          </a:xfrm>
        </p:spPr>
        <p:txBody>
          <a:bodyPr>
            <a:normAutofit/>
          </a:bodyPr>
          <a:lstStyle/>
          <a:p>
            <a:pPr marL="0" indent="0">
              <a:buClr>
                <a:srgbClr val="F39C10"/>
              </a:buClr>
              <a:buNone/>
            </a:pPr>
            <a:r>
              <a:rPr lang="en-US" dirty="0"/>
              <a:t>Harsh school discipline practices, like referring students to law enforcement or making arrests for minor issues, can push students toward the juvenile justice system. These actions disrupt their education, make it harder for them to succeed in school, and increase the chances of future legal problems. It's important to rethink these policies to prevent students from getting caught in this cycle.</a:t>
            </a:r>
          </a:p>
        </p:txBody>
      </p:sp>
    </p:spTree>
    <p:extLst>
      <p:ext uri="{BB962C8B-B14F-4D97-AF65-F5344CB8AC3E}">
        <p14:creationId xmlns:p14="http://schemas.microsoft.com/office/powerpoint/2010/main" val="613541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E2FAA2-874C-5319-F362-2E87D4A1C036}"/>
              </a:ext>
            </a:extLst>
          </p:cNvPr>
          <p:cNvSpPr>
            <a:spLocks noGrp="1"/>
          </p:cNvSpPr>
          <p:nvPr>
            <p:ph type="title"/>
          </p:nvPr>
        </p:nvSpPr>
        <p:spPr>
          <a:xfrm>
            <a:off x="959157" y="1113764"/>
            <a:ext cx="3269749" cy="4624327"/>
          </a:xfrm>
        </p:spPr>
        <p:txBody>
          <a:bodyPr anchor="ctr">
            <a:normAutofit/>
          </a:bodyPr>
          <a:lstStyle/>
          <a:p>
            <a:r>
              <a:rPr lang="en-US" sz="3200" dirty="0">
                <a:solidFill>
                  <a:srgbClr val="FFFFFF"/>
                </a:solidFill>
              </a:rPr>
              <a:t>Data questions </a:t>
            </a:r>
          </a:p>
        </p:txBody>
      </p:sp>
      <p:sp>
        <p:nvSpPr>
          <p:cNvPr id="3" name="Content Placeholder 2">
            <a:extLst>
              <a:ext uri="{FF2B5EF4-FFF2-40B4-BE49-F238E27FC236}">
                <a16:creationId xmlns:a16="http://schemas.microsoft.com/office/drawing/2014/main" id="{4DF01250-0CC8-BD0A-B772-ADF0B2E64F86}"/>
              </a:ext>
            </a:extLst>
          </p:cNvPr>
          <p:cNvSpPr>
            <a:spLocks noGrp="1"/>
          </p:cNvSpPr>
          <p:nvPr>
            <p:ph idx="1"/>
          </p:nvPr>
        </p:nvSpPr>
        <p:spPr>
          <a:xfrm>
            <a:off x="5155905" y="1113764"/>
            <a:ext cx="6108179" cy="4624327"/>
          </a:xfrm>
        </p:spPr>
        <p:txBody>
          <a:bodyPr anchor="ctr">
            <a:normAutofit/>
          </a:bodyPr>
          <a:lstStyle/>
          <a:p>
            <a:pPr marL="342900" indent="-342900">
              <a:buFont typeface="+mj-lt"/>
              <a:buAutoNum type="arabicPeriod"/>
            </a:pPr>
            <a:r>
              <a:rPr lang="en-US" sz="1700" dirty="0"/>
              <a:t>How do referral rates to law enforcement vary across different school districts and states?</a:t>
            </a:r>
          </a:p>
          <a:p>
            <a:pPr marL="342900" indent="-342900">
              <a:buFont typeface="+mj-lt"/>
              <a:buAutoNum type="arabicPeriod"/>
            </a:pPr>
            <a:r>
              <a:rPr lang="en-US" sz="1700" dirty="0"/>
              <a:t>Is there a significant difference in referral and arrest rates based on student demographics?</a:t>
            </a:r>
          </a:p>
          <a:p>
            <a:pPr marL="342900" indent="-342900">
              <a:buFont typeface="+mj-lt"/>
              <a:buAutoNum type="arabicPeriod"/>
            </a:pPr>
            <a:r>
              <a:rPr lang="en-US" sz="1700" dirty="0"/>
              <a:t>How do offense rates For vary across different school districts?</a:t>
            </a:r>
          </a:p>
          <a:p>
            <a:pPr marL="342900" indent="-342900">
              <a:buFont typeface="+mj-lt"/>
              <a:buAutoNum type="arabicPeriod"/>
            </a:pPr>
            <a:r>
              <a:rPr lang="en-US" sz="1700" dirty="0"/>
              <a:t>What demographic trends can be observed in sentencing practices for federal offenses? </a:t>
            </a:r>
          </a:p>
          <a:p>
            <a:pPr marL="342900" indent="-342900">
              <a:buFont typeface="+mj-lt"/>
              <a:buAutoNum type="arabicPeriod"/>
            </a:pPr>
            <a:r>
              <a:rPr lang="en-US" sz="1700" dirty="0"/>
              <a:t>Are there correlations between different offense types and sentencing outcomes?</a:t>
            </a:r>
          </a:p>
        </p:txBody>
      </p:sp>
    </p:spTree>
    <p:extLst>
      <p:ext uri="{BB962C8B-B14F-4D97-AF65-F5344CB8AC3E}">
        <p14:creationId xmlns:p14="http://schemas.microsoft.com/office/powerpoint/2010/main" val="224744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92F375-1EC2-E1B0-FB3D-456080493685}"/>
              </a:ext>
            </a:extLst>
          </p:cNvPr>
          <p:cNvSpPr>
            <a:spLocks noGrp="1"/>
          </p:cNvSpPr>
          <p:nvPr>
            <p:ph type="title"/>
          </p:nvPr>
        </p:nvSpPr>
        <p:spPr>
          <a:xfrm>
            <a:off x="4312774" y="208787"/>
            <a:ext cx="7157865" cy="1013800"/>
          </a:xfrm>
        </p:spPr>
        <p:txBody>
          <a:bodyPr>
            <a:normAutofit/>
          </a:bodyPr>
          <a:lstStyle/>
          <a:p>
            <a:r>
              <a:rPr lang="en-US" dirty="0">
                <a:solidFill>
                  <a:schemeClr val="accent1"/>
                </a:solidFill>
              </a:rPr>
              <a:t>Data source</a:t>
            </a:r>
          </a:p>
        </p:txBody>
      </p:sp>
      <p:pic>
        <p:nvPicPr>
          <p:cNvPr id="5" name="Picture 4" descr="Codes on papers">
            <a:extLst>
              <a:ext uri="{FF2B5EF4-FFF2-40B4-BE49-F238E27FC236}">
                <a16:creationId xmlns:a16="http://schemas.microsoft.com/office/drawing/2014/main" id="{628840F9-39BA-99DC-3AA9-35F9FC545C53}"/>
              </a:ext>
            </a:extLst>
          </p:cNvPr>
          <p:cNvPicPr>
            <a:picLocks noChangeAspect="1"/>
          </p:cNvPicPr>
          <p:nvPr/>
        </p:nvPicPr>
        <p:blipFill>
          <a:blip r:embed="rId2"/>
          <a:srcRect l="30866" r="28918" b="-1"/>
          <a:stretch/>
        </p:blipFill>
        <p:spPr>
          <a:xfrm>
            <a:off x="20" y="10"/>
            <a:ext cx="4131713" cy="6857989"/>
          </a:xfrm>
          <a:prstGeom prst="rect">
            <a:avLst/>
          </a:prstGeom>
        </p:spPr>
      </p:pic>
      <p:sp>
        <p:nvSpPr>
          <p:cNvPr id="11" name="Rectangle 10">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9934" y="457200"/>
            <a:ext cx="7223760" cy="91440"/>
          </a:xfrm>
          <a:prstGeom prst="rect">
            <a:avLst/>
          </a:prstGeom>
          <a:solidFill>
            <a:srgbClr val="FF085D"/>
          </a:solidFill>
          <a:ln>
            <a:solidFill>
              <a:srgbClr val="FF085D"/>
            </a:solid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965DA810-76C2-AC4A-17B5-EE1C66D06DD1}"/>
              </a:ext>
            </a:extLst>
          </p:cNvPr>
          <p:cNvSpPr>
            <a:spLocks noGrp="1"/>
          </p:cNvSpPr>
          <p:nvPr>
            <p:ph idx="1"/>
          </p:nvPr>
        </p:nvSpPr>
        <p:spPr>
          <a:xfrm>
            <a:off x="4449934" y="1896533"/>
            <a:ext cx="7157866" cy="3962266"/>
          </a:xfrm>
        </p:spPr>
        <p:txBody>
          <a:bodyPr>
            <a:noAutofit/>
          </a:bodyPr>
          <a:lstStyle/>
          <a:p>
            <a:pPr marL="0" indent="0">
              <a:lnSpc>
                <a:spcPct val="90000"/>
              </a:lnSpc>
              <a:buClr>
                <a:srgbClr val="FF085D"/>
              </a:buClr>
              <a:buNone/>
            </a:pPr>
            <a:r>
              <a:rPr lang="en-US" sz="1200" b="1" dirty="0"/>
              <a:t>Data Sources:</a:t>
            </a:r>
          </a:p>
          <a:p>
            <a:pPr>
              <a:lnSpc>
                <a:spcPct val="90000"/>
              </a:lnSpc>
              <a:buClr>
                <a:srgbClr val="FF085D"/>
              </a:buClr>
            </a:pPr>
            <a:r>
              <a:rPr lang="en-US" sz="1200" b="1" dirty="0"/>
              <a:t>2021-22 Civil Rights Data Collection (CRDC) – Collected by the U.S. Department of Education, tracking school discipline trends.</a:t>
            </a:r>
          </a:p>
          <a:p>
            <a:pPr>
              <a:lnSpc>
                <a:spcPct val="90000"/>
              </a:lnSpc>
              <a:buClr>
                <a:srgbClr val="FF085D"/>
              </a:buClr>
            </a:pPr>
            <a:r>
              <a:rPr lang="en-US" sz="1200" b="1" dirty="0"/>
              <a:t>2023 U.S. Sentencing Commission (USSC) Data – Federal sentencing data collected annually to analyze criminal case outcomes.</a:t>
            </a:r>
          </a:p>
          <a:p>
            <a:pPr marL="0" indent="0">
              <a:lnSpc>
                <a:spcPct val="90000"/>
              </a:lnSpc>
              <a:buClr>
                <a:srgbClr val="FF085D"/>
              </a:buClr>
              <a:buNone/>
            </a:pPr>
            <a:r>
              <a:rPr lang="en-US" sz="1200" b="1" dirty="0"/>
              <a:t>History of Data Collection:</a:t>
            </a:r>
          </a:p>
          <a:p>
            <a:pPr>
              <a:lnSpc>
                <a:spcPct val="90000"/>
              </a:lnSpc>
              <a:buClr>
                <a:srgbClr val="FF085D"/>
              </a:buClr>
            </a:pPr>
            <a:r>
              <a:rPr lang="en-US" sz="1200" b="1" dirty="0"/>
              <a:t>CRDC:</a:t>
            </a:r>
          </a:p>
          <a:p>
            <a:pPr>
              <a:lnSpc>
                <a:spcPct val="90000"/>
              </a:lnSpc>
              <a:buClr>
                <a:srgbClr val="FF085D"/>
              </a:buClr>
            </a:pPr>
            <a:r>
              <a:rPr lang="en-US" sz="1200" b="1" dirty="0"/>
              <a:t>Started in 1968 to track racial equity in schools.</a:t>
            </a:r>
          </a:p>
          <a:p>
            <a:pPr>
              <a:lnSpc>
                <a:spcPct val="90000"/>
              </a:lnSpc>
              <a:buClr>
                <a:srgbClr val="FF085D"/>
              </a:buClr>
            </a:pPr>
            <a:r>
              <a:rPr lang="en-US" sz="1200" b="1" dirty="0"/>
              <a:t>Expanded over time to include discipline policies, special education access, and school resources.</a:t>
            </a:r>
          </a:p>
          <a:p>
            <a:pPr>
              <a:lnSpc>
                <a:spcPct val="90000"/>
              </a:lnSpc>
              <a:buClr>
                <a:srgbClr val="FF085D"/>
              </a:buClr>
            </a:pPr>
            <a:r>
              <a:rPr lang="en-US" sz="1200" b="1" dirty="0"/>
              <a:t>Data is collected every two years from public schools in the U.S.</a:t>
            </a:r>
          </a:p>
          <a:p>
            <a:pPr marL="0" indent="0">
              <a:lnSpc>
                <a:spcPct val="90000"/>
              </a:lnSpc>
              <a:buClr>
                <a:srgbClr val="FF085D"/>
              </a:buClr>
              <a:buNone/>
            </a:pPr>
            <a:r>
              <a:rPr lang="en-US" sz="1200" b="1" dirty="0"/>
              <a:t>USSC:</a:t>
            </a:r>
          </a:p>
          <a:p>
            <a:pPr>
              <a:lnSpc>
                <a:spcPct val="90000"/>
              </a:lnSpc>
              <a:buClr>
                <a:srgbClr val="FF085D"/>
              </a:buClr>
            </a:pPr>
            <a:r>
              <a:rPr lang="en-US" sz="1200" b="1" dirty="0"/>
              <a:t>Established in 1987 to ensure fair sentencing practices across federal courts.</a:t>
            </a:r>
          </a:p>
          <a:p>
            <a:pPr>
              <a:lnSpc>
                <a:spcPct val="90000"/>
              </a:lnSpc>
              <a:buClr>
                <a:srgbClr val="FF085D"/>
              </a:buClr>
            </a:pPr>
            <a:r>
              <a:rPr lang="en-US" sz="1200" b="1" dirty="0"/>
              <a:t>Tracks offense types, sentencing trends, and demographic disparities.</a:t>
            </a:r>
          </a:p>
          <a:p>
            <a:pPr>
              <a:lnSpc>
                <a:spcPct val="90000"/>
              </a:lnSpc>
              <a:buClr>
                <a:srgbClr val="FF085D"/>
              </a:buClr>
            </a:pPr>
            <a:r>
              <a:rPr lang="en-US" sz="1200" b="1" dirty="0"/>
              <a:t>Data is collected annually, covering all federal criminal cases processed that year.</a:t>
            </a:r>
          </a:p>
          <a:p>
            <a:pPr marL="0" indent="0">
              <a:lnSpc>
                <a:spcPct val="90000"/>
              </a:lnSpc>
              <a:buClr>
                <a:srgbClr val="FF085D"/>
              </a:buClr>
              <a:buNone/>
            </a:pPr>
            <a:r>
              <a:rPr lang="en-US" sz="1200" b="1" dirty="0"/>
              <a:t>Years of Data Available:</a:t>
            </a:r>
          </a:p>
          <a:p>
            <a:pPr>
              <a:lnSpc>
                <a:spcPct val="90000"/>
              </a:lnSpc>
              <a:buClr>
                <a:srgbClr val="FF085D"/>
              </a:buClr>
            </a:pPr>
            <a:r>
              <a:rPr lang="en-US" sz="1200" b="1" dirty="0"/>
              <a:t>CRDC: Available for multiple years, including 2013-14, 2015-16, 2017-18, 2019-20, and 2021-22.</a:t>
            </a:r>
          </a:p>
          <a:p>
            <a:pPr>
              <a:lnSpc>
                <a:spcPct val="90000"/>
              </a:lnSpc>
              <a:buClr>
                <a:srgbClr val="FF085D"/>
              </a:buClr>
            </a:pPr>
            <a:r>
              <a:rPr lang="en-US" sz="1200" b="1" dirty="0"/>
              <a:t>USSC: Sentencing data has been collected annually since 1987.</a:t>
            </a:r>
          </a:p>
          <a:p>
            <a:pPr marL="0" indent="0">
              <a:lnSpc>
                <a:spcPct val="90000"/>
              </a:lnSpc>
              <a:buClr>
                <a:srgbClr val="FF085D"/>
              </a:buClr>
              <a:buNone/>
            </a:pPr>
            <a:br>
              <a:rPr lang="en-US" sz="1200" b="1" dirty="0"/>
            </a:br>
            <a:endParaRPr lang="en-US" sz="1200" b="1" dirty="0"/>
          </a:p>
        </p:txBody>
      </p:sp>
    </p:spTree>
    <p:extLst>
      <p:ext uri="{BB962C8B-B14F-4D97-AF65-F5344CB8AC3E}">
        <p14:creationId xmlns:p14="http://schemas.microsoft.com/office/powerpoint/2010/main" val="2630482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70130DC-F780-43D2-B26A-92EACD789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F542D5-C4DE-A268-2234-A3E6372D69BF}"/>
              </a:ext>
            </a:extLst>
          </p:cNvPr>
          <p:cNvSpPr>
            <a:spLocks noGrp="1"/>
          </p:cNvSpPr>
          <p:nvPr>
            <p:ph type="title"/>
          </p:nvPr>
        </p:nvSpPr>
        <p:spPr>
          <a:xfrm>
            <a:off x="581192" y="641653"/>
            <a:ext cx="11029616" cy="1095560"/>
          </a:xfrm>
        </p:spPr>
        <p:txBody>
          <a:bodyPr anchor="t">
            <a:normAutofit/>
          </a:bodyPr>
          <a:lstStyle/>
          <a:p>
            <a:r>
              <a:rPr lang="en-US" dirty="0">
                <a:solidFill>
                  <a:schemeClr val="accent2"/>
                </a:solidFill>
              </a:rPr>
              <a:t>Data topics in the datasets</a:t>
            </a:r>
          </a:p>
        </p:txBody>
      </p:sp>
      <p:sp>
        <p:nvSpPr>
          <p:cNvPr id="23" name="Rectangle 22">
            <a:extLst>
              <a:ext uri="{FF2B5EF4-FFF2-40B4-BE49-F238E27FC236}">
                <a16:creationId xmlns:a16="http://schemas.microsoft.com/office/drawing/2014/main" id="{17676E0E-5B44-4166-8EDD-CFDBAC622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7201"/>
            <a:ext cx="11298933"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63C3046E-89A4-B8BA-1903-0167675ECA03}"/>
              </a:ext>
            </a:extLst>
          </p:cNvPr>
          <p:cNvSpPr>
            <a:spLocks noGrp="1"/>
          </p:cNvSpPr>
          <p:nvPr>
            <p:ph idx="1"/>
          </p:nvPr>
        </p:nvSpPr>
        <p:spPr>
          <a:xfrm>
            <a:off x="581192" y="1879600"/>
            <a:ext cx="11029615" cy="3979200"/>
          </a:xfrm>
        </p:spPr>
        <p:txBody>
          <a:bodyPr>
            <a:normAutofit fontScale="25000" lnSpcReduction="20000"/>
          </a:bodyPr>
          <a:lstStyle/>
          <a:p>
            <a:pPr marL="0" indent="0">
              <a:lnSpc>
                <a:spcPct val="90000"/>
              </a:lnSpc>
              <a:buNone/>
            </a:pPr>
            <a:r>
              <a:rPr lang="en-US" sz="4300" b="1" dirty="0">
                <a:solidFill>
                  <a:schemeClr val="accent2">
                    <a:lumMod val="50000"/>
                  </a:schemeClr>
                </a:solidFill>
              </a:rPr>
              <a:t>Overview of Topics:</a:t>
            </a:r>
          </a:p>
          <a:p>
            <a:pPr marL="0" indent="0">
              <a:lnSpc>
                <a:spcPct val="90000"/>
              </a:lnSpc>
              <a:buNone/>
            </a:pPr>
            <a:r>
              <a:rPr lang="en-US" sz="4300" b="1" u="sng" dirty="0">
                <a:solidFill>
                  <a:schemeClr val="accent2">
                    <a:lumMod val="50000"/>
                  </a:schemeClr>
                </a:solidFill>
              </a:rPr>
              <a:t>CRDC</a:t>
            </a:r>
          </a:p>
          <a:p>
            <a:pPr>
              <a:lnSpc>
                <a:spcPct val="90000"/>
              </a:lnSpc>
            </a:pPr>
            <a:r>
              <a:rPr lang="en-US" sz="4300" b="1" dirty="0">
                <a:solidFill>
                  <a:schemeClr val="accent2">
                    <a:lumMod val="50000"/>
                  </a:schemeClr>
                </a:solidFill>
              </a:rPr>
              <a:t>Student demographics (race, gender, disability status, etc.)</a:t>
            </a:r>
          </a:p>
          <a:p>
            <a:pPr>
              <a:lnSpc>
                <a:spcPct val="90000"/>
              </a:lnSpc>
            </a:pPr>
            <a:r>
              <a:rPr lang="en-US" sz="4300" b="1" dirty="0">
                <a:solidFill>
                  <a:schemeClr val="accent2">
                    <a:lumMod val="50000"/>
                  </a:schemeClr>
                </a:solidFill>
              </a:rPr>
              <a:t>Disciplinary actions (referrals, suspensions, arrests)</a:t>
            </a:r>
          </a:p>
          <a:p>
            <a:pPr>
              <a:lnSpc>
                <a:spcPct val="90000"/>
              </a:lnSpc>
            </a:pPr>
            <a:r>
              <a:rPr lang="en-US" sz="4300" b="1" dirty="0">
                <a:solidFill>
                  <a:schemeClr val="accent2">
                    <a:lumMod val="50000"/>
                  </a:schemeClr>
                </a:solidFill>
              </a:rPr>
              <a:t>Access to educational services (special education, AP courses, etc.)</a:t>
            </a:r>
          </a:p>
          <a:p>
            <a:pPr>
              <a:lnSpc>
                <a:spcPct val="90000"/>
              </a:lnSpc>
            </a:pPr>
            <a:r>
              <a:rPr lang="en-US" sz="4300" b="1" dirty="0">
                <a:solidFill>
                  <a:schemeClr val="accent2">
                    <a:lumMod val="50000"/>
                  </a:schemeClr>
                </a:solidFill>
              </a:rPr>
              <a:t>School characteristics (school type, grade levels, etc.)</a:t>
            </a:r>
          </a:p>
          <a:p>
            <a:pPr marL="0" indent="0">
              <a:lnSpc>
                <a:spcPct val="90000"/>
              </a:lnSpc>
              <a:buNone/>
            </a:pPr>
            <a:r>
              <a:rPr lang="en-US" sz="4300" b="1" u="sng" dirty="0">
                <a:solidFill>
                  <a:schemeClr val="accent2">
                    <a:lumMod val="50000"/>
                  </a:schemeClr>
                </a:solidFill>
              </a:rPr>
              <a:t>USSC</a:t>
            </a:r>
          </a:p>
          <a:p>
            <a:pPr>
              <a:lnSpc>
                <a:spcPct val="90000"/>
              </a:lnSpc>
            </a:pPr>
            <a:r>
              <a:rPr lang="en-US" sz="4300" b="1" dirty="0">
                <a:solidFill>
                  <a:schemeClr val="accent2">
                    <a:lumMod val="50000"/>
                  </a:schemeClr>
                </a:solidFill>
              </a:rPr>
              <a:t>Federal sentencing data (sentence length, offense type, defendant characteristics)</a:t>
            </a:r>
          </a:p>
          <a:p>
            <a:pPr>
              <a:lnSpc>
                <a:spcPct val="90000"/>
              </a:lnSpc>
            </a:pPr>
            <a:r>
              <a:rPr lang="en-US" sz="4300" b="1" dirty="0">
                <a:solidFill>
                  <a:schemeClr val="accent2">
                    <a:lumMod val="50000"/>
                  </a:schemeClr>
                </a:solidFill>
              </a:rPr>
              <a:t>Sentencing disparities (race, gender, prior criminal history, etc.)</a:t>
            </a:r>
          </a:p>
          <a:p>
            <a:pPr>
              <a:lnSpc>
                <a:spcPct val="90000"/>
              </a:lnSpc>
            </a:pPr>
            <a:r>
              <a:rPr lang="en-US" sz="4300" b="1" dirty="0">
                <a:solidFill>
                  <a:schemeClr val="accent2">
                    <a:lumMod val="50000"/>
                  </a:schemeClr>
                </a:solidFill>
              </a:rPr>
              <a:t>Trends in federal sentencing (guideline adherence, departures, variances)</a:t>
            </a:r>
          </a:p>
          <a:p>
            <a:pPr>
              <a:lnSpc>
                <a:spcPct val="90000"/>
              </a:lnSpc>
            </a:pPr>
            <a:r>
              <a:rPr lang="en-US" sz="4300" b="1" dirty="0">
                <a:solidFill>
                  <a:schemeClr val="accent2">
                    <a:lumMod val="50000"/>
                  </a:schemeClr>
                </a:solidFill>
              </a:rPr>
              <a:t>Policy analysis and reform recommendations</a:t>
            </a:r>
          </a:p>
          <a:p>
            <a:pPr marL="0" indent="0">
              <a:lnSpc>
                <a:spcPct val="90000"/>
              </a:lnSpc>
              <a:buNone/>
            </a:pPr>
            <a:r>
              <a:rPr lang="en-US" sz="4300" b="1" dirty="0">
                <a:solidFill>
                  <a:schemeClr val="accent2">
                    <a:lumMod val="50000"/>
                  </a:schemeClr>
                </a:solidFill>
              </a:rPr>
              <a:t>Years of Data Available:</a:t>
            </a:r>
          </a:p>
          <a:p>
            <a:pPr>
              <a:lnSpc>
                <a:spcPct val="90000"/>
              </a:lnSpc>
            </a:pPr>
            <a:r>
              <a:rPr lang="en-US" sz="4300" b="1" dirty="0">
                <a:solidFill>
                  <a:schemeClr val="accent2">
                    <a:lumMod val="50000"/>
                  </a:schemeClr>
                </a:solidFill>
              </a:rPr>
              <a:t>CRDC data is available for various years, including 2013-14, 2015-16, 2017-18, 2019-20, and 2021-22. Dataset spans over 50 years, with annual or biennial updates.</a:t>
            </a:r>
          </a:p>
          <a:p>
            <a:pPr>
              <a:lnSpc>
                <a:spcPct val="90000"/>
              </a:lnSpc>
            </a:pPr>
            <a:r>
              <a:rPr lang="en-US" sz="4300" b="1" dirty="0">
                <a:solidFill>
                  <a:schemeClr val="accent2">
                    <a:lumMod val="50000"/>
                  </a:schemeClr>
                </a:solidFill>
              </a:rPr>
              <a:t>Sentencing commission data is available annually, covering cases from fiscal years starting in 1987, with updates reflecting the latest trends and reforms.</a:t>
            </a:r>
          </a:p>
          <a:p>
            <a:pPr marL="0" indent="0">
              <a:lnSpc>
                <a:spcPct val="90000"/>
              </a:lnSpc>
              <a:buNone/>
            </a:pPr>
            <a:r>
              <a:rPr lang="en-US" sz="4300" b="1" dirty="0">
                <a:solidFill>
                  <a:schemeClr val="accent2">
                    <a:lumMod val="50000"/>
                  </a:schemeClr>
                </a:solidFill>
              </a:rPr>
              <a:t>Instance of Datasets:</a:t>
            </a:r>
          </a:p>
          <a:p>
            <a:pPr>
              <a:lnSpc>
                <a:spcPct val="90000"/>
              </a:lnSpc>
            </a:pPr>
            <a:r>
              <a:rPr lang="en-US" sz="4300" b="1" dirty="0">
                <a:solidFill>
                  <a:schemeClr val="accent2">
                    <a:lumMod val="50000"/>
                  </a:schemeClr>
                </a:solidFill>
              </a:rPr>
              <a:t>Each row represents a school district or school with corresponding information on student’s demographics, disciplinary actions, and available resources.</a:t>
            </a:r>
          </a:p>
          <a:p>
            <a:pPr>
              <a:lnSpc>
                <a:spcPct val="90000"/>
              </a:lnSpc>
            </a:pPr>
            <a:r>
              <a:rPr lang="en-US" sz="4300" b="1" dirty="0">
                <a:solidFill>
                  <a:schemeClr val="accent2">
                    <a:lumMod val="50000"/>
                  </a:schemeClr>
                </a:solidFill>
              </a:rPr>
              <a:t>Each row represents a federal criminal case, including information on the offense, sentence imposed, demographic characteristics of the defendant, and related sentencing factors.</a:t>
            </a:r>
          </a:p>
          <a:p>
            <a:pPr>
              <a:lnSpc>
                <a:spcPct val="90000"/>
              </a:lnSpc>
            </a:pPr>
            <a:endParaRPr lang="en-US" sz="1700" dirty="0">
              <a:solidFill>
                <a:schemeClr val="accent2">
                  <a:lumMod val="50000"/>
                </a:schemeClr>
              </a:solidFill>
            </a:endParaRPr>
          </a:p>
        </p:txBody>
      </p:sp>
    </p:spTree>
    <p:extLst>
      <p:ext uri="{BB962C8B-B14F-4D97-AF65-F5344CB8AC3E}">
        <p14:creationId xmlns:p14="http://schemas.microsoft.com/office/powerpoint/2010/main" val="12804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B7D02C-F642-492B-8E97-FDE1C0FDA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6EBBDDE-71ED-5C57-2A9B-0A00F96ABA02}"/>
              </a:ext>
            </a:extLst>
          </p:cNvPr>
          <p:cNvSpPr>
            <a:spLocks noGrp="1"/>
          </p:cNvSpPr>
          <p:nvPr>
            <p:ph type="title"/>
          </p:nvPr>
        </p:nvSpPr>
        <p:spPr>
          <a:xfrm>
            <a:off x="581192" y="1507414"/>
            <a:ext cx="5120255" cy="3903332"/>
          </a:xfrm>
        </p:spPr>
        <p:txBody>
          <a:bodyPr anchor="t">
            <a:normAutofit/>
          </a:bodyPr>
          <a:lstStyle/>
          <a:p>
            <a:r>
              <a:rPr lang="en-US" sz="4000" dirty="0">
                <a:solidFill>
                  <a:schemeClr val="accent2"/>
                </a:solidFill>
              </a:rPr>
              <a:t>Ingestion – the data</a:t>
            </a:r>
          </a:p>
        </p:txBody>
      </p:sp>
      <p:sp>
        <p:nvSpPr>
          <p:cNvPr id="10" name="Rectangle 9">
            <a:extLst>
              <a:ext uri="{FF2B5EF4-FFF2-40B4-BE49-F238E27FC236}">
                <a16:creationId xmlns:a16="http://schemas.microsoft.com/office/drawing/2014/main" id="{A2D0BA34-24BC-4C63-945A-90AA854E1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3642"/>
            <a:ext cx="11298933" cy="51270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65AF5AA0-4DA4-A42F-3AD8-1D1C5C6C8B09}"/>
              </a:ext>
            </a:extLst>
          </p:cNvPr>
          <p:cNvSpPr>
            <a:spLocks noGrp="1"/>
          </p:cNvSpPr>
          <p:nvPr>
            <p:ph idx="1"/>
          </p:nvPr>
        </p:nvSpPr>
        <p:spPr>
          <a:xfrm>
            <a:off x="6096000" y="1507680"/>
            <a:ext cx="5514807" cy="4219617"/>
          </a:xfrm>
          <a:ln w="57150">
            <a:noFill/>
          </a:ln>
        </p:spPr>
        <p:txBody>
          <a:bodyPr anchor="t">
            <a:normAutofit fontScale="62500" lnSpcReduction="20000"/>
          </a:bodyPr>
          <a:lstStyle/>
          <a:p>
            <a:pPr marL="0" indent="0">
              <a:lnSpc>
                <a:spcPct val="90000"/>
              </a:lnSpc>
              <a:buNone/>
            </a:pPr>
            <a:r>
              <a:rPr lang="en-US" b="1" dirty="0"/>
              <a:t>Portion of Data Used:</a:t>
            </a:r>
          </a:p>
          <a:p>
            <a:pPr>
              <a:lnSpc>
                <a:spcPct val="90000"/>
              </a:lnSpc>
            </a:pPr>
            <a:r>
              <a:rPr lang="en-US" b="1" dirty="0"/>
              <a:t>Student demographic data: This includes race, gender, and enrollment information.</a:t>
            </a:r>
          </a:p>
          <a:p>
            <a:pPr>
              <a:lnSpc>
                <a:spcPct val="90000"/>
              </a:lnSpc>
            </a:pPr>
            <a:r>
              <a:rPr lang="en-US" b="1" dirty="0"/>
              <a:t>Demographic data: Information related to offenders' race, gender, age, and prior criminal history.</a:t>
            </a:r>
          </a:p>
          <a:p>
            <a:pPr>
              <a:lnSpc>
                <a:spcPct val="90000"/>
              </a:lnSpc>
            </a:pPr>
            <a:r>
              <a:rPr lang="en-US" b="1" dirty="0"/>
              <a:t>Referrals and arrests: Data on student referrals and arrests, including breakdowns by student group such as race/sex.</a:t>
            </a:r>
          </a:p>
          <a:p>
            <a:pPr>
              <a:lnSpc>
                <a:spcPct val="90000"/>
              </a:lnSpc>
            </a:pPr>
            <a:r>
              <a:rPr lang="en-US" b="1" dirty="0"/>
              <a:t>Offense types: This includes data on various federal offenses and sentencing outcomes.</a:t>
            </a:r>
          </a:p>
          <a:p>
            <a:pPr>
              <a:lnSpc>
                <a:spcPct val="90000"/>
              </a:lnSpc>
            </a:pPr>
            <a:r>
              <a:rPr lang="en-US" b="1" dirty="0"/>
              <a:t>Sentencing data: Includes the type of sentence imposed, length of sentences, and other judicial decisions.</a:t>
            </a:r>
          </a:p>
          <a:p>
            <a:pPr>
              <a:lnSpc>
                <a:spcPct val="90000"/>
              </a:lnSpc>
            </a:pPr>
            <a:r>
              <a:rPr lang="en-US" b="1" dirty="0"/>
              <a:t>Enrollment data was used to calculate referral and arrest rate.</a:t>
            </a:r>
          </a:p>
          <a:p>
            <a:pPr>
              <a:lnSpc>
                <a:spcPct val="90000"/>
              </a:lnSpc>
            </a:pPr>
            <a:endParaRPr lang="en-US" b="1" dirty="0"/>
          </a:p>
          <a:p>
            <a:pPr marL="0" indent="0">
              <a:lnSpc>
                <a:spcPct val="90000"/>
              </a:lnSpc>
              <a:buNone/>
            </a:pPr>
            <a:r>
              <a:rPr lang="en-US" b="1" dirty="0"/>
              <a:t>Years of Data: </a:t>
            </a:r>
          </a:p>
          <a:p>
            <a:pPr marL="0" indent="0">
              <a:lnSpc>
                <a:spcPct val="90000"/>
              </a:lnSpc>
              <a:buNone/>
            </a:pPr>
            <a:r>
              <a:rPr lang="en-US" b="1" dirty="0"/>
              <a:t>I'm using the CRDC data from 2021-22 to analyze trends in student offenses, referrals, and arrests, and the USSC data from Fiscal Year 2023 to explore trends in sentencing, demographics, and offense types. Together, these datasets provide insights into changes in school discipline policies and federal sentencing practices.</a:t>
            </a:r>
          </a:p>
          <a:p>
            <a:pPr marL="0" indent="0">
              <a:lnSpc>
                <a:spcPct val="90000"/>
              </a:lnSpc>
              <a:buNone/>
            </a:pPr>
            <a:r>
              <a:rPr lang="en-US" b="1" dirty="0"/>
              <a:t>Instances &amp; Columns:</a:t>
            </a:r>
          </a:p>
          <a:p>
            <a:pPr>
              <a:lnSpc>
                <a:spcPct val="90000"/>
              </a:lnSpc>
            </a:pPr>
            <a:r>
              <a:rPr lang="en-US" b="1" dirty="0"/>
              <a:t>2021-22 (Referrals and Arrests): 98,011 instances and 84 columns.</a:t>
            </a:r>
          </a:p>
          <a:p>
            <a:pPr>
              <a:lnSpc>
                <a:spcPct val="90000"/>
              </a:lnSpc>
            </a:pPr>
            <a:r>
              <a:rPr lang="en-US" b="1" dirty="0"/>
              <a:t>2023 (Sentencing Data): 64,125 instances and 3,722 columns.</a:t>
            </a:r>
          </a:p>
          <a:p>
            <a:pPr marL="0" indent="0">
              <a:lnSpc>
                <a:spcPct val="90000"/>
              </a:lnSpc>
              <a:buNone/>
            </a:pPr>
            <a:endParaRPr lang="en-US" sz="1100" dirty="0"/>
          </a:p>
        </p:txBody>
      </p:sp>
      <p:sp>
        <p:nvSpPr>
          <p:cNvPr id="12" name="Rectangle 11">
            <a:extLst>
              <a:ext uri="{FF2B5EF4-FFF2-40B4-BE49-F238E27FC236}">
                <a16:creationId xmlns:a16="http://schemas.microsoft.com/office/drawing/2014/main" id="{0647415D-11C2-4BA0-A3EE-E0DA219B3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878019"/>
            <a:ext cx="11298933" cy="51270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09152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748A7E-207A-99D6-C766-C9898DC8D3A8}"/>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Final features selected </a:t>
            </a:r>
          </a:p>
        </p:txBody>
      </p:sp>
      <p:sp>
        <p:nvSpPr>
          <p:cNvPr id="3" name="Content Placeholder 2">
            <a:extLst>
              <a:ext uri="{FF2B5EF4-FFF2-40B4-BE49-F238E27FC236}">
                <a16:creationId xmlns:a16="http://schemas.microsoft.com/office/drawing/2014/main" id="{6FCE8F02-55CC-4CD0-93B3-B6260680B40C}"/>
              </a:ext>
            </a:extLst>
          </p:cNvPr>
          <p:cNvSpPr>
            <a:spLocks noGrp="1"/>
          </p:cNvSpPr>
          <p:nvPr>
            <p:ph idx="1"/>
          </p:nvPr>
        </p:nvSpPr>
        <p:spPr>
          <a:xfrm>
            <a:off x="5155905" y="1113764"/>
            <a:ext cx="6108179" cy="4624327"/>
          </a:xfrm>
        </p:spPr>
        <p:txBody>
          <a:bodyPr anchor="ctr">
            <a:noAutofit/>
          </a:bodyPr>
          <a:lstStyle/>
          <a:p>
            <a:pPr marL="0" indent="0">
              <a:lnSpc>
                <a:spcPct val="90000"/>
              </a:lnSpc>
              <a:buNone/>
            </a:pPr>
            <a:r>
              <a:rPr lang="en-US" sz="1100" b="1" dirty="0"/>
              <a:t>From the 2021-22 CRDC Data (Referrals and Arrests):</a:t>
            </a:r>
          </a:p>
          <a:p>
            <a:pPr marL="0" indent="0">
              <a:lnSpc>
                <a:spcPct val="90000"/>
              </a:lnSpc>
              <a:buNone/>
            </a:pPr>
            <a:r>
              <a:rPr lang="en-US" sz="1100" b="1" dirty="0"/>
              <a:t>LEA_STATE, LEA_STATE_NAME: To analyze school discipline trends across states.</a:t>
            </a:r>
          </a:p>
          <a:p>
            <a:pPr marL="0" indent="0">
              <a:lnSpc>
                <a:spcPct val="90000"/>
              </a:lnSpc>
              <a:buNone/>
            </a:pPr>
            <a:r>
              <a:rPr lang="en-US" sz="1100" b="1" dirty="0"/>
              <a:t>LEAID, LEA_NAME: To analyze at the district level.</a:t>
            </a:r>
          </a:p>
          <a:p>
            <a:pPr marL="0" indent="0">
              <a:lnSpc>
                <a:spcPct val="90000"/>
              </a:lnSpc>
              <a:buNone/>
            </a:pPr>
            <a:r>
              <a:rPr lang="en-US" sz="1100" b="1" dirty="0"/>
              <a:t>SCH_NAME: To break down the analysis by specific schools within the districts.</a:t>
            </a:r>
          </a:p>
          <a:p>
            <a:pPr marL="0" indent="0">
              <a:lnSpc>
                <a:spcPct val="90000"/>
              </a:lnSpc>
              <a:buNone/>
            </a:pPr>
            <a:r>
              <a:rPr lang="en-US" sz="1100" b="1" dirty="0"/>
              <a:t>TOT_DISCWODIS_REF_M, TOT_DISCWODIS_REF_F: Total referrals for male and female students.</a:t>
            </a:r>
          </a:p>
          <a:p>
            <a:pPr marL="0" indent="0">
              <a:lnSpc>
                <a:spcPct val="90000"/>
              </a:lnSpc>
              <a:buNone/>
            </a:pPr>
            <a:r>
              <a:rPr lang="en-US" sz="1100" b="1" dirty="0"/>
              <a:t>TOT_DISCWODIS_ARR_M, TOT_DISCWODIS_ARR_F: Total arrests for male and female students.</a:t>
            </a:r>
          </a:p>
          <a:p>
            <a:pPr marL="0" indent="0">
              <a:lnSpc>
                <a:spcPct val="90000"/>
              </a:lnSpc>
              <a:buNone/>
            </a:pPr>
            <a:r>
              <a:rPr lang="en-US" sz="1100" b="1" dirty="0"/>
              <a:t>From the 2023 USSC Data (Sentencing):</a:t>
            </a:r>
          </a:p>
          <a:p>
            <a:pPr marL="0" indent="0">
              <a:lnSpc>
                <a:spcPct val="90000"/>
              </a:lnSpc>
              <a:buNone/>
            </a:pPr>
            <a:r>
              <a:rPr lang="en-US" sz="1100" b="1" dirty="0"/>
              <a:t>AGE: To focus on the 18-24 age group.</a:t>
            </a:r>
          </a:p>
          <a:p>
            <a:pPr marL="0" indent="0">
              <a:lnSpc>
                <a:spcPct val="90000"/>
              </a:lnSpc>
              <a:buNone/>
            </a:pPr>
            <a:r>
              <a:rPr lang="en-US" sz="1100" b="1"/>
              <a:t>MONRACE: Race </a:t>
            </a:r>
            <a:r>
              <a:rPr lang="en-US" sz="1100" b="1" dirty="0"/>
              <a:t>at the time of sentencing</a:t>
            </a:r>
          </a:p>
          <a:p>
            <a:pPr marL="0" indent="0">
              <a:lnSpc>
                <a:spcPct val="90000"/>
              </a:lnSpc>
              <a:buNone/>
            </a:pPr>
            <a:r>
              <a:rPr lang="en-US" sz="1100" b="1" dirty="0"/>
              <a:t>MONSEX: Gender at the time of sentencing</a:t>
            </a:r>
          </a:p>
          <a:p>
            <a:pPr marL="0" indent="0">
              <a:lnSpc>
                <a:spcPct val="90000"/>
              </a:lnSpc>
              <a:buNone/>
            </a:pPr>
            <a:r>
              <a:rPr lang="en-US" sz="1100" b="1" dirty="0"/>
              <a:t>CASETYPE: Type of offense or case.</a:t>
            </a:r>
          </a:p>
          <a:p>
            <a:pPr marL="0" indent="0">
              <a:lnSpc>
                <a:spcPct val="90000"/>
              </a:lnSpc>
              <a:buNone/>
            </a:pPr>
            <a:r>
              <a:rPr lang="en-US" sz="1100" b="1" dirty="0"/>
              <a:t>CRIMHIST: Whether the individual has prior criminal history, which could influence sentencing.</a:t>
            </a:r>
          </a:p>
          <a:p>
            <a:pPr marL="0" indent="0">
              <a:lnSpc>
                <a:spcPct val="90000"/>
              </a:lnSpc>
              <a:buNone/>
            </a:pPr>
            <a:r>
              <a:rPr lang="en-US" sz="1100" b="1" dirty="0"/>
              <a:t>SENTTOT: Total sentence length.</a:t>
            </a:r>
          </a:p>
          <a:p>
            <a:pPr marL="0" indent="0">
              <a:lnSpc>
                <a:spcPct val="90000"/>
              </a:lnSpc>
              <a:buNone/>
            </a:pPr>
            <a:r>
              <a:rPr lang="en-US" sz="1100" b="1" dirty="0"/>
              <a:t>SENTIMP: Type of sentence imposed.</a:t>
            </a:r>
          </a:p>
          <a:p>
            <a:pPr marL="0" indent="0">
              <a:lnSpc>
                <a:spcPct val="90000"/>
              </a:lnSpc>
              <a:buNone/>
            </a:pPr>
            <a:r>
              <a:rPr lang="en-US" sz="1100" b="1" dirty="0"/>
              <a:t>DISTRICT: District where the case was handled.</a:t>
            </a:r>
            <a:br>
              <a:rPr lang="en-US" sz="1100" b="1" dirty="0"/>
            </a:br>
            <a:endParaRPr lang="en-US" sz="1100" b="1" dirty="0"/>
          </a:p>
        </p:txBody>
      </p:sp>
    </p:spTree>
    <p:extLst>
      <p:ext uri="{BB962C8B-B14F-4D97-AF65-F5344CB8AC3E}">
        <p14:creationId xmlns:p14="http://schemas.microsoft.com/office/powerpoint/2010/main" val="2059241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E01AD7-77AB-B7EF-51F9-80D9178349A5}"/>
              </a:ext>
            </a:extLst>
          </p:cNvPr>
          <p:cNvSpPr>
            <a:spLocks noGrp="1"/>
          </p:cNvSpPr>
          <p:nvPr>
            <p:ph type="title"/>
          </p:nvPr>
        </p:nvSpPr>
        <p:spPr>
          <a:xfrm>
            <a:off x="4449934" y="702156"/>
            <a:ext cx="7157865" cy="1013800"/>
          </a:xfrm>
        </p:spPr>
        <p:txBody>
          <a:bodyPr>
            <a:normAutofit/>
          </a:bodyPr>
          <a:lstStyle/>
          <a:p>
            <a:r>
              <a:rPr lang="en-US" dirty="0">
                <a:solidFill>
                  <a:schemeClr val="accent1"/>
                </a:solidFill>
              </a:rPr>
              <a:t>Final analytic dataset</a:t>
            </a:r>
          </a:p>
        </p:txBody>
      </p:sp>
      <p:pic>
        <p:nvPicPr>
          <p:cNvPr id="5" name="Picture 4" descr="A book on top of a stack of books&#10;&#10;AI-generated content may be incorrect.">
            <a:extLst>
              <a:ext uri="{FF2B5EF4-FFF2-40B4-BE49-F238E27FC236}">
                <a16:creationId xmlns:a16="http://schemas.microsoft.com/office/drawing/2014/main" id="{17120BEB-EB02-5883-5617-978E384C213C}"/>
              </a:ext>
            </a:extLst>
          </p:cNvPr>
          <p:cNvPicPr>
            <a:picLocks noChangeAspect="1"/>
          </p:cNvPicPr>
          <p:nvPr/>
        </p:nvPicPr>
        <p:blipFill>
          <a:blip r:embed="rId2"/>
          <a:srcRect l="30778" r="35333"/>
          <a:stretch/>
        </p:blipFill>
        <p:spPr>
          <a:xfrm>
            <a:off x="20" y="10"/>
            <a:ext cx="4131713" cy="6857989"/>
          </a:xfrm>
          <a:prstGeom prst="rect">
            <a:avLst/>
          </a:prstGeom>
        </p:spPr>
      </p:pic>
      <p:sp>
        <p:nvSpPr>
          <p:cNvPr id="11" name="Rectangle 10">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9934" y="457200"/>
            <a:ext cx="7223760" cy="91440"/>
          </a:xfrm>
          <a:prstGeom prst="rect">
            <a:avLst/>
          </a:prstGeom>
          <a:solidFill>
            <a:srgbClr val="8C5E14"/>
          </a:solidFill>
          <a:ln>
            <a:solidFill>
              <a:srgbClr val="8C5E14"/>
            </a:solid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914B177-DC57-F325-4DCA-DFE6DC0F88CE}"/>
              </a:ext>
            </a:extLst>
          </p:cNvPr>
          <p:cNvSpPr>
            <a:spLocks noGrp="1"/>
          </p:cNvSpPr>
          <p:nvPr>
            <p:ph idx="1"/>
          </p:nvPr>
        </p:nvSpPr>
        <p:spPr>
          <a:xfrm>
            <a:off x="4449934" y="1896533"/>
            <a:ext cx="7157866" cy="3962266"/>
          </a:xfrm>
        </p:spPr>
        <p:txBody>
          <a:bodyPr>
            <a:normAutofit lnSpcReduction="10000"/>
          </a:bodyPr>
          <a:lstStyle/>
          <a:p>
            <a:pPr marL="0" indent="0">
              <a:lnSpc>
                <a:spcPct val="90000"/>
              </a:lnSpc>
              <a:buClr>
                <a:srgbClr val="8C5E14"/>
              </a:buClr>
              <a:buNone/>
            </a:pPr>
            <a:r>
              <a:rPr lang="en-US" dirty="0"/>
              <a:t>Portion of Data Used:</a:t>
            </a:r>
          </a:p>
          <a:p>
            <a:pPr>
              <a:lnSpc>
                <a:spcPct val="90000"/>
              </a:lnSpc>
              <a:buClr>
                <a:srgbClr val="8C5E14"/>
              </a:buClr>
            </a:pPr>
            <a:r>
              <a:rPr lang="en-US" dirty="0"/>
              <a:t>2021-22 CRDC Data:  This will cover data on school referrals, arrests, and disciplinary actions for students. I’ll focus on referrals and arrests and break them down by gender, race, and special education status.</a:t>
            </a:r>
          </a:p>
          <a:p>
            <a:pPr>
              <a:lnSpc>
                <a:spcPct val="90000"/>
              </a:lnSpc>
              <a:buClr>
                <a:srgbClr val="8C5E14"/>
              </a:buClr>
            </a:pPr>
            <a:r>
              <a:rPr lang="en-US" dirty="0"/>
              <a:t>2023 USSC Data: This will cover sentencing data, focusing on individuals aged 18-24, with a breakdown of case types, sentencing lengths, and demographics.</a:t>
            </a:r>
          </a:p>
          <a:p>
            <a:pPr>
              <a:lnSpc>
                <a:spcPct val="90000"/>
              </a:lnSpc>
              <a:buClr>
                <a:srgbClr val="8C5E14"/>
              </a:buClr>
            </a:pPr>
            <a:endParaRPr lang="en-US" dirty="0"/>
          </a:p>
          <a:p>
            <a:pPr marL="0" indent="0">
              <a:lnSpc>
                <a:spcPct val="90000"/>
              </a:lnSpc>
              <a:buClr>
                <a:srgbClr val="8C5E14"/>
              </a:buClr>
              <a:buNone/>
            </a:pPr>
            <a:r>
              <a:rPr lang="en-US" dirty="0"/>
              <a:t>Number of Instances and Features:</a:t>
            </a:r>
          </a:p>
          <a:p>
            <a:pPr>
              <a:lnSpc>
                <a:spcPct val="90000"/>
              </a:lnSpc>
              <a:buClr>
                <a:srgbClr val="8C5E14"/>
              </a:buClr>
            </a:pPr>
            <a:r>
              <a:rPr lang="en-US" dirty="0"/>
              <a:t>CRDC Data: 318 instances, and 81 features.</a:t>
            </a:r>
          </a:p>
          <a:p>
            <a:pPr>
              <a:lnSpc>
                <a:spcPct val="90000"/>
              </a:lnSpc>
              <a:buClr>
                <a:srgbClr val="8C5E14"/>
              </a:buClr>
            </a:pPr>
            <a:r>
              <a:rPr lang="en-US" dirty="0"/>
              <a:t>USSC Data: 7,137 instances, and 10 features.</a:t>
            </a:r>
          </a:p>
          <a:p>
            <a:pPr>
              <a:lnSpc>
                <a:spcPct val="90000"/>
              </a:lnSpc>
              <a:buClr>
                <a:srgbClr val="8C5E14"/>
              </a:buClr>
            </a:pPr>
            <a:r>
              <a:rPr lang="en-US" dirty="0"/>
              <a:t>CRDC dataset was limited to the five selected school districts.</a:t>
            </a:r>
          </a:p>
          <a:p>
            <a:pPr marL="0" indent="0">
              <a:lnSpc>
                <a:spcPct val="90000"/>
              </a:lnSpc>
              <a:buClr>
                <a:srgbClr val="8C5E14"/>
              </a:buClr>
              <a:buNone/>
            </a:pPr>
            <a:endParaRPr lang="en-US" dirty="0"/>
          </a:p>
        </p:txBody>
      </p:sp>
    </p:spTree>
    <p:extLst>
      <p:ext uri="{BB962C8B-B14F-4D97-AF65-F5344CB8AC3E}">
        <p14:creationId xmlns:p14="http://schemas.microsoft.com/office/powerpoint/2010/main" val="186542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45593C-FD86-E9CD-6163-7080E75612FA}"/>
              </a:ext>
            </a:extLst>
          </p:cNvPr>
          <p:cNvSpPr>
            <a:spLocks noGrp="1"/>
          </p:cNvSpPr>
          <p:nvPr>
            <p:ph type="title"/>
          </p:nvPr>
        </p:nvSpPr>
        <p:spPr>
          <a:xfrm>
            <a:off x="4449934" y="702156"/>
            <a:ext cx="7157865" cy="1013800"/>
          </a:xfrm>
        </p:spPr>
        <p:txBody>
          <a:bodyPr>
            <a:normAutofit/>
          </a:bodyPr>
          <a:lstStyle/>
          <a:p>
            <a:r>
              <a:rPr lang="en-US" dirty="0">
                <a:solidFill>
                  <a:schemeClr val="accent1"/>
                </a:solidFill>
              </a:rPr>
              <a:t>Data wrangling </a:t>
            </a:r>
          </a:p>
        </p:txBody>
      </p:sp>
      <p:pic>
        <p:nvPicPr>
          <p:cNvPr id="5" name="Picture 4" descr="Orange and blue numbers and graphs">
            <a:extLst>
              <a:ext uri="{FF2B5EF4-FFF2-40B4-BE49-F238E27FC236}">
                <a16:creationId xmlns:a16="http://schemas.microsoft.com/office/drawing/2014/main" id="{C99F39CC-1C8B-B39E-42F2-840CA46C1694}"/>
              </a:ext>
            </a:extLst>
          </p:cNvPr>
          <p:cNvPicPr>
            <a:picLocks noChangeAspect="1"/>
          </p:cNvPicPr>
          <p:nvPr/>
        </p:nvPicPr>
        <p:blipFill>
          <a:blip r:embed="rId2"/>
          <a:srcRect l="26822" r="36277" b="1"/>
          <a:stretch/>
        </p:blipFill>
        <p:spPr>
          <a:xfrm>
            <a:off x="0" y="0"/>
            <a:ext cx="4131713" cy="6857989"/>
          </a:xfrm>
          <a:prstGeom prst="rect">
            <a:avLst/>
          </a:prstGeom>
        </p:spPr>
      </p:pic>
      <p:sp>
        <p:nvSpPr>
          <p:cNvPr id="11" name="Rectangle 10">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9934" y="457200"/>
            <a:ext cx="7223760" cy="91440"/>
          </a:xfrm>
          <a:prstGeom prst="rect">
            <a:avLst/>
          </a:prstGeom>
          <a:solidFill>
            <a:srgbClr val="EE3A0D"/>
          </a:solidFill>
          <a:ln>
            <a:solidFill>
              <a:srgbClr val="EE3A0D"/>
            </a:solid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1AE1764E-EE87-D94D-C4E0-5FE96717E85A}"/>
              </a:ext>
            </a:extLst>
          </p:cNvPr>
          <p:cNvSpPr>
            <a:spLocks noGrp="1"/>
          </p:cNvSpPr>
          <p:nvPr>
            <p:ph idx="1"/>
          </p:nvPr>
        </p:nvSpPr>
        <p:spPr>
          <a:xfrm>
            <a:off x="4392269" y="2305845"/>
            <a:ext cx="7157866" cy="3962266"/>
          </a:xfrm>
        </p:spPr>
        <p:txBody>
          <a:bodyPr>
            <a:normAutofit fontScale="92500" lnSpcReduction="10000"/>
          </a:bodyPr>
          <a:lstStyle/>
          <a:p>
            <a:pPr marL="0" indent="0">
              <a:lnSpc>
                <a:spcPct val="90000"/>
              </a:lnSpc>
              <a:buClr>
                <a:srgbClr val="EE3A0D"/>
              </a:buClr>
              <a:buNone/>
            </a:pPr>
            <a:r>
              <a:rPr lang="en-US" sz="1300" b="1" dirty="0"/>
              <a:t>Feature Engineering:</a:t>
            </a:r>
          </a:p>
          <a:p>
            <a:pPr marL="0" indent="0">
              <a:lnSpc>
                <a:spcPct val="90000"/>
              </a:lnSpc>
              <a:buClr>
                <a:srgbClr val="EE3A0D"/>
              </a:buClr>
              <a:buNone/>
            </a:pPr>
            <a:r>
              <a:rPr lang="en-US" sz="1300" b="1" dirty="0"/>
              <a:t>Encoding Categorical Variables:</a:t>
            </a:r>
          </a:p>
          <a:p>
            <a:pPr marL="0" indent="0">
              <a:lnSpc>
                <a:spcPct val="90000"/>
              </a:lnSpc>
              <a:buClr>
                <a:srgbClr val="EE3A0D"/>
              </a:buClr>
              <a:buNone/>
            </a:pPr>
            <a:r>
              <a:rPr lang="en-US" sz="1300" b="1" dirty="0"/>
              <a:t>I converted race and gender, which were initially numeric, into categorical variables.</a:t>
            </a:r>
          </a:p>
          <a:p>
            <a:pPr marL="0" indent="0">
              <a:lnSpc>
                <a:spcPct val="90000"/>
              </a:lnSpc>
              <a:buClr>
                <a:srgbClr val="EE3A0D"/>
              </a:buClr>
              <a:buNone/>
            </a:pPr>
            <a:r>
              <a:rPr lang="en-US" sz="1300" b="1" dirty="0"/>
              <a:t>Handling Missing Data:</a:t>
            </a:r>
          </a:p>
          <a:p>
            <a:pPr marL="0" indent="0">
              <a:lnSpc>
                <a:spcPct val="90000"/>
              </a:lnSpc>
              <a:buClr>
                <a:srgbClr val="EE3A0D"/>
              </a:buClr>
              <a:buNone/>
            </a:pPr>
            <a:r>
              <a:rPr lang="en-US" sz="1300" b="1" dirty="0"/>
              <a:t>I identified and handled missing values by removing the rows/columns</a:t>
            </a:r>
          </a:p>
          <a:p>
            <a:pPr marL="0" indent="0">
              <a:lnSpc>
                <a:spcPct val="90000"/>
              </a:lnSpc>
              <a:buClr>
                <a:srgbClr val="EE3A0D"/>
              </a:buClr>
              <a:buNone/>
            </a:pPr>
            <a:r>
              <a:rPr lang="en-US" sz="1300" b="1" dirty="0"/>
              <a:t>Age Group:</a:t>
            </a:r>
          </a:p>
          <a:p>
            <a:pPr marL="0" indent="0">
              <a:lnSpc>
                <a:spcPct val="90000"/>
              </a:lnSpc>
              <a:buClr>
                <a:srgbClr val="EE3A0D"/>
              </a:buClr>
              <a:buNone/>
            </a:pPr>
            <a:r>
              <a:rPr lang="en-US" sz="1300" b="1" dirty="0"/>
              <a:t>I created an age group feature 18-24, to better align with the analysis focus and ensure clarity in modeling.</a:t>
            </a:r>
          </a:p>
          <a:p>
            <a:pPr marL="0" indent="0">
              <a:lnSpc>
                <a:spcPct val="90000"/>
              </a:lnSpc>
              <a:buClr>
                <a:srgbClr val="EE3A0D"/>
              </a:buClr>
              <a:buNone/>
            </a:pPr>
            <a:r>
              <a:rPr lang="en-US" sz="1300" b="1" dirty="0"/>
              <a:t>Feature Selection:</a:t>
            </a:r>
          </a:p>
          <a:p>
            <a:pPr marL="0" indent="0">
              <a:lnSpc>
                <a:spcPct val="90000"/>
              </a:lnSpc>
              <a:buClr>
                <a:srgbClr val="EE3A0D"/>
              </a:buClr>
              <a:buNone/>
            </a:pPr>
            <a:r>
              <a:rPr lang="en-US" sz="1300" b="1" dirty="0"/>
              <a:t>I reviewed and removed irrelevant features.</a:t>
            </a:r>
          </a:p>
          <a:p>
            <a:pPr marL="0" indent="0">
              <a:lnSpc>
                <a:spcPct val="90000"/>
              </a:lnSpc>
              <a:buClr>
                <a:srgbClr val="EE3A0D"/>
              </a:buClr>
              <a:buNone/>
            </a:pPr>
            <a:r>
              <a:rPr lang="en-US" sz="1300" b="1" dirty="0"/>
              <a:t>Data Issues:</a:t>
            </a:r>
          </a:p>
          <a:p>
            <a:pPr marL="0" indent="0">
              <a:lnSpc>
                <a:spcPct val="90000"/>
              </a:lnSpc>
              <a:buClr>
                <a:srgbClr val="EE3A0D"/>
              </a:buClr>
              <a:buNone/>
            </a:pPr>
            <a:r>
              <a:rPr lang="en-US" sz="1300" b="1" dirty="0"/>
              <a:t>Handled missing data by removing unreliable entries.</a:t>
            </a:r>
          </a:p>
          <a:p>
            <a:pPr marL="0" indent="0">
              <a:lnSpc>
                <a:spcPct val="90000"/>
              </a:lnSpc>
              <a:buClr>
                <a:srgbClr val="EE3A0D"/>
              </a:buClr>
              <a:buNone/>
            </a:pPr>
            <a:r>
              <a:rPr lang="en-US" sz="1300" b="1" dirty="0"/>
              <a:t>CRDC Reserve Codes: Included values such as -3 (Processing Failure), -4 (Missing Data), -12 (Privacy Suppressed) to account for missing or unavailable data.</a:t>
            </a:r>
          </a:p>
          <a:p>
            <a:pPr marL="0" indent="0">
              <a:lnSpc>
                <a:spcPct val="90000"/>
              </a:lnSpc>
              <a:buClr>
                <a:srgbClr val="EE3A0D"/>
              </a:buClr>
              <a:buNone/>
            </a:pPr>
            <a:br>
              <a:rPr lang="en-US" sz="1300" b="1" dirty="0"/>
            </a:br>
            <a:endParaRPr lang="en-US" sz="1300" b="1" dirty="0"/>
          </a:p>
          <a:p>
            <a:pPr marL="0" indent="0">
              <a:lnSpc>
                <a:spcPct val="90000"/>
              </a:lnSpc>
              <a:buClr>
                <a:srgbClr val="EE3A0D"/>
              </a:buClr>
              <a:buNone/>
            </a:pPr>
            <a:endParaRPr lang="en-US" sz="1300" dirty="0"/>
          </a:p>
          <a:p>
            <a:pPr marL="0" indent="0">
              <a:lnSpc>
                <a:spcPct val="90000"/>
              </a:lnSpc>
              <a:buClr>
                <a:srgbClr val="EE3A0D"/>
              </a:buClr>
              <a:buNone/>
            </a:pPr>
            <a:endParaRPr lang="en-US" sz="1300" dirty="0"/>
          </a:p>
          <a:p>
            <a:pPr marL="0" indent="0">
              <a:lnSpc>
                <a:spcPct val="90000"/>
              </a:lnSpc>
              <a:buClr>
                <a:srgbClr val="EE3A0D"/>
              </a:buClr>
              <a:buNone/>
            </a:pPr>
            <a:endParaRPr lang="en-US" sz="1300" dirty="0"/>
          </a:p>
        </p:txBody>
      </p:sp>
    </p:spTree>
    <p:extLst>
      <p:ext uri="{BB962C8B-B14F-4D97-AF65-F5344CB8AC3E}">
        <p14:creationId xmlns:p14="http://schemas.microsoft.com/office/powerpoint/2010/main" val="20685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0" name="Rectangle 99">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graph of different colored bars&#10;&#10;AI-generated content may be incorrect.">
            <a:extLst>
              <a:ext uri="{FF2B5EF4-FFF2-40B4-BE49-F238E27FC236}">
                <a16:creationId xmlns:a16="http://schemas.microsoft.com/office/drawing/2014/main" id="{49F41BA5-780A-B902-E746-C633E830A29C}"/>
              </a:ext>
            </a:extLst>
          </p:cNvPr>
          <p:cNvPicPr>
            <a:picLocks noChangeAspect="1"/>
          </p:cNvPicPr>
          <p:nvPr/>
        </p:nvPicPr>
        <p:blipFill>
          <a:blip r:embed="rId2"/>
          <a:stretch>
            <a:fillRect/>
          </a:stretch>
        </p:blipFill>
        <p:spPr>
          <a:xfrm>
            <a:off x="625217" y="541064"/>
            <a:ext cx="5147403" cy="3435892"/>
          </a:xfrm>
          <a:prstGeom prst="rect">
            <a:avLst/>
          </a:prstGeom>
        </p:spPr>
      </p:pic>
      <p:cxnSp>
        <p:nvCxnSpPr>
          <p:cNvPr id="102" name="Straight Connector 101">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pic>
        <p:nvPicPr>
          <p:cNvPr id="6" name="Content Placeholder 5" descr="A graph of a bar chart&#10;&#10;AI-generated content may be incorrect.">
            <a:extLst>
              <a:ext uri="{FF2B5EF4-FFF2-40B4-BE49-F238E27FC236}">
                <a16:creationId xmlns:a16="http://schemas.microsoft.com/office/drawing/2014/main" id="{74B74F77-93E2-C082-A6BC-B8AF1ED1A1B8}"/>
              </a:ext>
            </a:extLst>
          </p:cNvPr>
          <p:cNvPicPr>
            <a:picLocks noChangeAspect="1"/>
          </p:cNvPicPr>
          <p:nvPr/>
        </p:nvPicPr>
        <p:blipFill>
          <a:blip r:embed="rId3"/>
          <a:stretch>
            <a:fillRect/>
          </a:stretch>
        </p:blipFill>
        <p:spPr>
          <a:xfrm>
            <a:off x="6417735" y="541064"/>
            <a:ext cx="5147403" cy="3435892"/>
          </a:xfrm>
          <a:prstGeom prst="rect">
            <a:avLst/>
          </a:prstGeom>
        </p:spPr>
      </p:pic>
      <p:sp useBgFill="1">
        <p:nvSpPr>
          <p:cNvPr id="104" name="Rectangle 103">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6" name="Rectangle 105">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1C229DF-5B54-F159-6090-47D26AFC11BB}"/>
              </a:ext>
            </a:extLst>
          </p:cNvPr>
          <p:cNvSpPr>
            <a:spLocks noGrp="1"/>
          </p:cNvSpPr>
          <p:nvPr>
            <p:ph type="title"/>
          </p:nvPr>
        </p:nvSpPr>
        <p:spPr>
          <a:xfrm>
            <a:off x="679600" y="4596992"/>
            <a:ext cx="3353432" cy="1607013"/>
          </a:xfrm>
        </p:spPr>
        <p:txBody>
          <a:bodyPr vert="horz" lIns="91440" tIns="45720" rIns="91440" bIns="45720" rtlCol="0" anchor="ctr">
            <a:normAutofit/>
          </a:bodyPr>
          <a:lstStyle/>
          <a:p>
            <a:pPr>
              <a:lnSpc>
                <a:spcPct val="90000"/>
              </a:lnSpc>
            </a:pPr>
            <a:r>
              <a:rPr lang="en-US" sz="1800" dirty="0">
                <a:solidFill>
                  <a:schemeClr val="tx2"/>
                </a:solidFill>
              </a:rPr>
              <a:t>How do referral rates to law enforcement vary across different school districts and states?</a:t>
            </a:r>
            <a:br>
              <a:rPr lang="en-US" sz="1800" dirty="0">
                <a:solidFill>
                  <a:schemeClr val="tx2"/>
                </a:solidFill>
              </a:rPr>
            </a:br>
            <a:br>
              <a:rPr lang="en-US" sz="1800" dirty="0">
                <a:solidFill>
                  <a:schemeClr val="tx2"/>
                </a:solidFill>
              </a:rPr>
            </a:br>
            <a:endParaRPr lang="en-US" sz="1800" dirty="0">
              <a:solidFill>
                <a:schemeClr val="tx2"/>
              </a:solidFill>
            </a:endParaRPr>
          </a:p>
        </p:txBody>
      </p:sp>
      <p:sp>
        <p:nvSpPr>
          <p:cNvPr id="97" name="Content Placeholder 96">
            <a:extLst>
              <a:ext uri="{FF2B5EF4-FFF2-40B4-BE49-F238E27FC236}">
                <a16:creationId xmlns:a16="http://schemas.microsoft.com/office/drawing/2014/main" id="{495FB2A8-4660-572E-48AF-3A20781E3010}"/>
              </a:ext>
            </a:extLst>
          </p:cNvPr>
          <p:cNvSpPr>
            <a:spLocks noGrp="1"/>
          </p:cNvSpPr>
          <p:nvPr>
            <p:ph idx="1"/>
          </p:nvPr>
        </p:nvSpPr>
        <p:spPr>
          <a:xfrm>
            <a:off x="4271491" y="4596992"/>
            <a:ext cx="7240909" cy="1607012"/>
          </a:xfrm>
        </p:spPr>
        <p:txBody>
          <a:bodyPr>
            <a:normAutofit fontScale="92500"/>
          </a:bodyPr>
          <a:lstStyle/>
          <a:p>
            <a:r>
              <a:rPr lang="en-US" dirty="0"/>
              <a:t>This first graph shows the top 10 districts with the highest referral rates to law enforcement per 100 students, with Joliet Twp HSD 204 and Kennedale ISD having the highest rates.</a:t>
            </a:r>
          </a:p>
          <a:p>
            <a:r>
              <a:rPr lang="en-US" dirty="0"/>
              <a:t>The second graph illustrates the top 10 states with the highest referral rates per 100 students, with Wyoming and South Dakota leading the chart.</a:t>
            </a:r>
          </a:p>
        </p:txBody>
      </p:sp>
    </p:spTree>
    <p:extLst>
      <p:ext uri="{BB962C8B-B14F-4D97-AF65-F5344CB8AC3E}">
        <p14:creationId xmlns:p14="http://schemas.microsoft.com/office/powerpoint/2010/main" val="394496195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graph with different colored bars&#10;&#10;AI-generated content may be incorrect.">
            <a:extLst>
              <a:ext uri="{FF2B5EF4-FFF2-40B4-BE49-F238E27FC236}">
                <a16:creationId xmlns:a16="http://schemas.microsoft.com/office/drawing/2014/main" id="{636DAF23-30C2-9583-52C4-EB8F5E63AA65}"/>
              </a:ext>
            </a:extLst>
          </p:cNvPr>
          <p:cNvPicPr>
            <a:picLocks noChangeAspect="1"/>
          </p:cNvPicPr>
          <p:nvPr/>
        </p:nvPicPr>
        <p:blipFill>
          <a:blip r:embed="rId2"/>
          <a:stretch>
            <a:fillRect/>
          </a:stretch>
        </p:blipFill>
        <p:spPr>
          <a:xfrm>
            <a:off x="0" y="575248"/>
            <a:ext cx="5654854" cy="3209128"/>
          </a:xfrm>
          <a:prstGeom prst="rect">
            <a:avLst/>
          </a:prstGeom>
        </p:spPr>
      </p:pic>
      <p:cxnSp>
        <p:nvCxnSpPr>
          <p:cNvPr id="59" name="Straight Connector 58">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graph of a bar graph&#10;&#10;AI-generated content may be incorrect.">
            <a:extLst>
              <a:ext uri="{FF2B5EF4-FFF2-40B4-BE49-F238E27FC236}">
                <a16:creationId xmlns:a16="http://schemas.microsoft.com/office/drawing/2014/main" id="{473BF716-8C7D-5DA3-76B9-ED8A8A1EB819}"/>
              </a:ext>
            </a:extLst>
          </p:cNvPr>
          <p:cNvPicPr>
            <a:picLocks noChangeAspect="1"/>
          </p:cNvPicPr>
          <p:nvPr/>
        </p:nvPicPr>
        <p:blipFill>
          <a:blip r:embed="rId3"/>
          <a:stretch>
            <a:fillRect/>
          </a:stretch>
        </p:blipFill>
        <p:spPr>
          <a:xfrm>
            <a:off x="6096000" y="447234"/>
            <a:ext cx="5976593" cy="3481363"/>
          </a:xfrm>
          <a:prstGeom prst="rect">
            <a:avLst/>
          </a:prstGeom>
        </p:spPr>
      </p:pic>
      <p:sp useBgFill="1">
        <p:nvSpPr>
          <p:cNvPr id="61" name="Rectangle 60">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63" name="Rectangle 62">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EC55F34-B7ED-0CEA-DDA7-58EE912EE2AF}"/>
              </a:ext>
            </a:extLst>
          </p:cNvPr>
          <p:cNvSpPr>
            <a:spLocks noGrp="1"/>
          </p:cNvSpPr>
          <p:nvPr>
            <p:ph type="title"/>
          </p:nvPr>
        </p:nvSpPr>
        <p:spPr>
          <a:xfrm>
            <a:off x="679600" y="4596992"/>
            <a:ext cx="3353432" cy="1607013"/>
          </a:xfrm>
        </p:spPr>
        <p:txBody>
          <a:bodyPr anchor="ctr">
            <a:normAutofit/>
          </a:bodyPr>
          <a:lstStyle/>
          <a:p>
            <a:pPr>
              <a:lnSpc>
                <a:spcPct val="90000"/>
              </a:lnSpc>
            </a:pPr>
            <a:r>
              <a:rPr lang="en-US" sz="2000" dirty="0">
                <a:solidFill>
                  <a:schemeClr val="tx2"/>
                </a:solidFill>
              </a:rPr>
              <a:t>Is there a significant difference in referral and arrest rates based on student demographics?</a:t>
            </a:r>
          </a:p>
        </p:txBody>
      </p:sp>
      <p:sp>
        <p:nvSpPr>
          <p:cNvPr id="54" name="Content Placeholder 53">
            <a:extLst>
              <a:ext uri="{FF2B5EF4-FFF2-40B4-BE49-F238E27FC236}">
                <a16:creationId xmlns:a16="http://schemas.microsoft.com/office/drawing/2014/main" id="{0B86C6D6-AD49-AB52-AC69-0F70307B1178}"/>
              </a:ext>
            </a:extLst>
          </p:cNvPr>
          <p:cNvSpPr>
            <a:spLocks noGrp="1"/>
          </p:cNvSpPr>
          <p:nvPr>
            <p:ph idx="1"/>
          </p:nvPr>
        </p:nvSpPr>
        <p:spPr>
          <a:xfrm>
            <a:off x="4271491" y="4596992"/>
            <a:ext cx="7240909" cy="1607012"/>
          </a:xfrm>
        </p:spPr>
        <p:txBody>
          <a:bodyPr>
            <a:normAutofit/>
          </a:bodyPr>
          <a:lstStyle/>
          <a:p>
            <a:r>
              <a:rPr lang="en-US" dirty="0"/>
              <a:t>White Male students have the highest referral and arrest rates.</a:t>
            </a:r>
          </a:p>
        </p:txBody>
      </p:sp>
    </p:spTree>
    <p:extLst>
      <p:ext uri="{BB962C8B-B14F-4D97-AF65-F5344CB8AC3E}">
        <p14:creationId xmlns:p14="http://schemas.microsoft.com/office/powerpoint/2010/main" val="117467816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1B84C5E-A51A-5AC0-44C4-2A0EB7960FE4}"/>
              </a:ext>
            </a:extLst>
          </p:cNvPr>
          <p:cNvSpPr>
            <a:spLocks noGrp="1"/>
          </p:cNvSpPr>
          <p:nvPr>
            <p:ph type="title"/>
          </p:nvPr>
        </p:nvSpPr>
        <p:spPr>
          <a:xfrm>
            <a:off x="609906" y="702155"/>
            <a:ext cx="3568661" cy="1269713"/>
          </a:xfrm>
        </p:spPr>
        <p:txBody>
          <a:bodyPr>
            <a:normAutofit/>
          </a:bodyPr>
          <a:lstStyle/>
          <a:p>
            <a:pPr>
              <a:lnSpc>
                <a:spcPct val="90000"/>
              </a:lnSpc>
            </a:pPr>
            <a:r>
              <a:rPr lang="en-US" sz="2000" dirty="0">
                <a:solidFill>
                  <a:schemeClr val="tx2"/>
                </a:solidFill>
              </a:rPr>
              <a:t>How do Offense rates For vary across different school districts?</a:t>
            </a:r>
          </a:p>
        </p:txBody>
      </p:sp>
      <p:sp>
        <p:nvSpPr>
          <p:cNvPr id="23" name="Rectangle 22">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Content Placeholder 17">
            <a:extLst>
              <a:ext uri="{FF2B5EF4-FFF2-40B4-BE49-F238E27FC236}">
                <a16:creationId xmlns:a16="http://schemas.microsoft.com/office/drawing/2014/main" id="{D1B4C08C-1CC1-922D-A9F2-58808B01A966}"/>
              </a:ext>
            </a:extLst>
          </p:cNvPr>
          <p:cNvSpPr>
            <a:spLocks noGrp="1"/>
          </p:cNvSpPr>
          <p:nvPr>
            <p:ph idx="1"/>
          </p:nvPr>
        </p:nvSpPr>
        <p:spPr>
          <a:xfrm>
            <a:off x="609906" y="2340864"/>
            <a:ext cx="3568661" cy="3634486"/>
          </a:xfrm>
        </p:spPr>
        <p:txBody>
          <a:bodyPr>
            <a:normAutofit/>
          </a:bodyPr>
          <a:lstStyle/>
          <a:p>
            <a:r>
              <a:rPr lang="en-US" dirty="0"/>
              <a:t>Charlotte Public Schools has the highest offense rate, followed by Joliet Twp HSD 204. Anna ISD and Kennedale ISD have the lowest offense rates</a:t>
            </a:r>
          </a:p>
        </p:txBody>
      </p:sp>
      <p:pic>
        <p:nvPicPr>
          <p:cNvPr id="4" name="Content Placeholder 3" descr="A graph of a number of different colored squares&#10;&#10;AI-generated content may be incorrect.">
            <a:extLst>
              <a:ext uri="{FF2B5EF4-FFF2-40B4-BE49-F238E27FC236}">
                <a16:creationId xmlns:a16="http://schemas.microsoft.com/office/drawing/2014/main" id="{9261F75F-74B5-AD65-3604-F9F471BEC5BE}"/>
              </a:ext>
            </a:extLst>
          </p:cNvPr>
          <p:cNvPicPr>
            <a:picLocks noChangeAspect="1"/>
          </p:cNvPicPr>
          <p:nvPr/>
        </p:nvPicPr>
        <p:blipFill>
          <a:blip r:embed="rId2"/>
          <a:stretch>
            <a:fillRect/>
          </a:stretch>
        </p:blipFill>
        <p:spPr>
          <a:xfrm>
            <a:off x="4654296" y="1326591"/>
            <a:ext cx="6735272" cy="4024323"/>
          </a:xfrm>
          <a:prstGeom prst="rect">
            <a:avLst/>
          </a:prstGeom>
        </p:spPr>
      </p:pic>
    </p:spTree>
    <p:extLst>
      <p:ext uri="{BB962C8B-B14F-4D97-AF65-F5344CB8AC3E}">
        <p14:creationId xmlns:p14="http://schemas.microsoft.com/office/powerpoint/2010/main" val="725821405"/>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169958B5-5C27-4A9A-983B-AC6A83EFD5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56876" y="1436050"/>
            <a:ext cx="0" cy="1645920"/>
          </a:xfrm>
          <a:prstGeom prst="line">
            <a:avLst/>
          </a:prstGeom>
          <a:ln w="19050">
            <a:solidFill>
              <a:srgbClr val="3D3D3D"/>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graph of a number of orange rectangular objects&#10;&#10;AI-generated content may be incorrect.">
            <a:extLst>
              <a:ext uri="{FF2B5EF4-FFF2-40B4-BE49-F238E27FC236}">
                <a16:creationId xmlns:a16="http://schemas.microsoft.com/office/drawing/2014/main" id="{9279A4F9-292A-C687-7ED3-8E82A650AC85}"/>
              </a:ext>
            </a:extLst>
          </p:cNvPr>
          <p:cNvPicPr>
            <a:picLocks noChangeAspect="1"/>
          </p:cNvPicPr>
          <p:nvPr/>
        </p:nvPicPr>
        <p:blipFill>
          <a:blip r:embed="rId2"/>
          <a:stretch>
            <a:fillRect/>
          </a:stretch>
        </p:blipFill>
        <p:spPr>
          <a:xfrm>
            <a:off x="4317744" y="925936"/>
            <a:ext cx="3554865" cy="2666148"/>
          </a:xfrm>
          <a:prstGeom prst="rect">
            <a:avLst/>
          </a:prstGeom>
        </p:spPr>
      </p:pic>
      <p:pic>
        <p:nvPicPr>
          <p:cNvPr id="9" name="Picture 8" descr="A graph of a number of blue bars&#10;&#10;AI-generated content may be incorrect.">
            <a:extLst>
              <a:ext uri="{FF2B5EF4-FFF2-40B4-BE49-F238E27FC236}">
                <a16:creationId xmlns:a16="http://schemas.microsoft.com/office/drawing/2014/main" id="{07515894-09D6-6BEE-9D49-CB532FD6C988}"/>
              </a:ext>
            </a:extLst>
          </p:cNvPr>
          <p:cNvPicPr>
            <a:picLocks noChangeAspect="1"/>
          </p:cNvPicPr>
          <p:nvPr/>
        </p:nvPicPr>
        <p:blipFill>
          <a:blip r:embed="rId3"/>
          <a:stretch>
            <a:fillRect/>
          </a:stretch>
        </p:blipFill>
        <p:spPr>
          <a:xfrm>
            <a:off x="8194343" y="925934"/>
            <a:ext cx="3554870" cy="2666152"/>
          </a:xfrm>
          <a:prstGeom prst="rect">
            <a:avLst/>
          </a:prstGeom>
        </p:spPr>
      </p:pic>
      <p:sp useBgFill="1">
        <p:nvSpPr>
          <p:cNvPr id="83" name="Rectangle 82">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85" name="Rectangle 84">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28306DD-4AE2-30C8-38AA-199B57DFDB6D}"/>
              </a:ext>
            </a:extLst>
          </p:cNvPr>
          <p:cNvSpPr>
            <a:spLocks noGrp="1"/>
          </p:cNvSpPr>
          <p:nvPr>
            <p:ph type="title"/>
          </p:nvPr>
        </p:nvSpPr>
        <p:spPr>
          <a:xfrm>
            <a:off x="850899" y="4556520"/>
            <a:ext cx="4923365" cy="1691879"/>
          </a:xfrm>
        </p:spPr>
        <p:txBody>
          <a:bodyPr anchor="ctr">
            <a:normAutofit/>
          </a:bodyPr>
          <a:lstStyle/>
          <a:p>
            <a:pPr>
              <a:lnSpc>
                <a:spcPct val="90000"/>
              </a:lnSpc>
            </a:pPr>
            <a:r>
              <a:rPr lang="en-US" dirty="0">
                <a:solidFill>
                  <a:schemeClr val="tx2"/>
                </a:solidFill>
              </a:rPr>
              <a:t>What demographic trends can be observed in sentencing practices for federal offenses?</a:t>
            </a:r>
          </a:p>
        </p:txBody>
      </p:sp>
      <p:pic>
        <p:nvPicPr>
          <p:cNvPr id="6" name="Picture 5" descr="A graph with green rectangles&#10;&#10;AI-generated content may be incorrect.">
            <a:extLst>
              <a:ext uri="{FF2B5EF4-FFF2-40B4-BE49-F238E27FC236}">
                <a16:creationId xmlns:a16="http://schemas.microsoft.com/office/drawing/2014/main" id="{E2970818-7F53-14F6-26AE-E42272F90EDB}"/>
              </a:ext>
            </a:extLst>
          </p:cNvPr>
          <p:cNvPicPr>
            <a:picLocks noChangeAspect="1"/>
          </p:cNvPicPr>
          <p:nvPr/>
        </p:nvPicPr>
        <p:blipFill>
          <a:blip r:embed="rId4"/>
          <a:stretch>
            <a:fillRect/>
          </a:stretch>
        </p:blipFill>
        <p:spPr>
          <a:xfrm>
            <a:off x="441140" y="925935"/>
            <a:ext cx="3554868" cy="2666150"/>
          </a:xfrm>
          <a:prstGeom prst="rect">
            <a:avLst/>
          </a:prstGeom>
        </p:spPr>
      </p:pic>
      <p:cxnSp>
        <p:nvCxnSpPr>
          <p:cNvPr id="87" name="Straight Connector 86">
            <a:extLst>
              <a:ext uri="{FF2B5EF4-FFF2-40B4-BE49-F238E27FC236}">
                <a16:creationId xmlns:a16="http://schemas.microsoft.com/office/drawing/2014/main" id="{FF8BD25D-8B66-4F26-8257-6DC0736291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33477" y="1436050"/>
            <a:ext cx="0" cy="1645920"/>
          </a:xfrm>
          <a:prstGeom prst="line">
            <a:avLst/>
          </a:prstGeom>
          <a:ln w="19050">
            <a:solidFill>
              <a:srgbClr val="3D3D3D"/>
            </a:solidFill>
          </a:ln>
        </p:spPr>
        <p:style>
          <a:lnRef idx="1">
            <a:schemeClr val="accent1"/>
          </a:lnRef>
          <a:fillRef idx="0">
            <a:schemeClr val="accent1"/>
          </a:fillRef>
          <a:effectRef idx="0">
            <a:schemeClr val="accent1"/>
          </a:effectRef>
          <a:fontRef idx="minor">
            <a:schemeClr val="tx1"/>
          </a:fontRef>
        </p:style>
      </p:cxnSp>
      <p:sp>
        <p:nvSpPr>
          <p:cNvPr id="76" name="Content Placeholder 75">
            <a:extLst>
              <a:ext uri="{FF2B5EF4-FFF2-40B4-BE49-F238E27FC236}">
                <a16:creationId xmlns:a16="http://schemas.microsoft.com/office/drawing/2014/main" id="{58AE8809-89DD-C331-FCC4-89FEFCAA03C7}"/>
              </a:ext>
            </a:extLst>
          </p:cNvPr>
          <p:cNvSpPr>
            <a:spLocks noGrp="1"/>
          </p:cNvSpPr>
          <p:nvPr>
            <p:ph idx="1"/>
          </p:nvPr>
        </p:nvSpPr>
        <p:spPr>
          <a:xfrm>
            <a:off x="6146801" y="4556520"/>
            <a:ext cx="5194300" cy="1691879"/>
          </a:xfrm>
        </p:spPr>
        <p:txBody>
          <a:bodyPr>
            <a:normAutofit fontScale="85000" lnSpcReduction="10000"/>
          </a:bodyPr>
          <a:lstStyle/>
          <a:p>
            <a:r>
              <a:rPr lang="en-US" dirty="0"/>
              <a:t>The graphs show average sentence lengths across selected federal districts (Texas North, Illinois North, Missouri East, Kansas, and Michigan East). They highlight how sentence length varies by criminal history, sex, and race. Males and those with criminal histories generally receive longer sentences, while American Indian/Alaskan Native and Multi-Racial groups tend to have longer sentences than others.</a:t>
            </a:r>
          </a:p>
        </p:txBody>
      </p:sp>
    </p:spTree>
    <p:extLst>
      <p:ext uri="{BB962C8B-B14F-4D97-AF65-F5344CB8AC3E}">
        <p14:creationId xmlns:p14="http://schemas.microsoft.com/office/powerpoint/2010/main" val="195095053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graph of a number of sentences&#10;&#10;AI-generated content may be incorrect.">
            <a:extLst>
              <a:ext uri="{FF2B5EF4-FFF2-40B4-BE49-F238E27FC236}">
                <a16:creationId xmlns:a16="http://schemas.microsoft.com/office/drawing/2014/main" id="{9E975CCB-9ED7-2A21-EB64-6A3A7DACD4BF}"/>
              </a:ext>
            </a:extLst>
          </p:cNvPr>
          <p:cNvPicPr>
            <a:picLocks noChangeAspect="1"/>
          </p:cNvPicPr>
          <p:nvPr/>
        </p:nvPicPr>
        <p:blipFill>
          <a:blip r:embed="rId2"/>
          <a:stretch>
            <a:fillRect/>
          </a:stretch>
        </p:blipFill>
        <p:spPr>
          <a:xfrm>
            <a:off x="441139" y="659566"/>
            <a:ext cx="5331481" cy="3198888"/>
          </a:xfrm>
          <a:prstGeom prst="rect">
            <a:avLst/>
          </a:prstGeom>
        </p:spPr>
      </p:pic>
      <p:cxnSp>
        <p:nvCxnSpPr>
          <p:cNvPr id="42" name="Straight Connector 41">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graph with different colored bars&#10;&#10;AI-generated content may be incorrect.">
            <a:extLst>
              <a:ext uri="{FF2B5EF4-FFF2-40B4-BE49-F238E27FC236}">
                <a16:creationId xmlns:a16="http://schemas.microsoft.com/office/drawing/2014/main" id="{960F32A0-FAF0-7A93-B83E-9F6D0BBC7A34}"/>
              </a:ext>
            </a:extLst>
          </p:cNvPr>
          <p:cNvPicPr>
            <a:picLocks noChangeAspect="1"/>
          </p:cNvPicPr>
          <p:nvPr/>
        </p:nvPicPr>
        <p:blipFill>
          <a:blip r:embed="rId3"/>
          <a:stretch>
            <a:fillRect/>
          </a:stretch>
        </p:blipFill>
        <p:spPr>
          <a:xfrm>
            <a:off x="6417735" y="632909"/>
            <a:ext cx="5331478" cy="3252201"/>
          </a:xfrm>
          <a:prstGeom prst="rect">
            <a:avLst/>
          </a:prstGeom>
        </p:spPr>
      </p:pic>
      <p:sp useBgFill="1">
        <p:nvSpPr>
          <p:cNvPr id="43" name="Rectangle 42">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4" name="Rectangle 43">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244BA8-A874-8ED0-941F-D74F301777F4}"/>
              </a:ext>
            </a:extLst>
          </p:cNvPr>
          <p:cNvSpPr>
            <a:spLocks noGrp="1"/>
          </p:cNvSpPr>
          <p:nvPr>
            <p:ph type="title"/>
          </p:nvPr>
        </p:nvSpPr>
        <p:spPr>
          <a:xfrm>
            <a:off x="679600" y="4596992"/>
            <a:ext cx="3353432" cy="1607013"/>
          </a:xfrm>
        </p:spPr>
        <p:txBody>
          <a:bodyPr anchor="ctr">
            <a:normAutofit/>
          </a:bodyPr>
          <a:lstStyle/>
          <a:p>
            <a:pPr>
              <a:lnSpc>
                <a:spcPct val="90000"/>
              </a:lnSpc>
            </a:pPr>
            <a:r>
              <a:rPr lang="en-US" sz="2000" dirty="0">
                <a:solidFill>
                  <a:schemeClr val="tx2"/>
                </a:solidFill>
              </a:rPr>
              <a:t>Are there correlations between different offense types and sentencing outcomes?</a:t>
            </a:r>
          </a:p>
        </p:txBody>
      </p:sp>
      <p:sp>
        <p:nvSpPr>
          <p:cNvPr id="45" name="Content Placeholder 17">
            <a:extLst>
              <a:ext uri="{FF2B5EF4-FFF2-40B4-BE49-F238E27FC236}">
                <a16:creationId xmlns:a16="http://schemas.microsoft.com/office/drawing/2014/main" id="{21999FEE-1FB9-1F3D-EB30-3323F5940FF1}"/>
              </a:ext>
            </a:extLst>
          </p:cNvPr>
          <p:cNvSpPr>
            <a:spLocks noGrp="1"/>
          </p:cNvSpPr>
          <p:nvPr>
            <p:ph idx="1"/>
          </p:nvPr>
        </p:nvSpPr>
        <p:spPr>
          <a:xfrm>
            <a:off x="4271491" y="4596992"/>
            <a:ext cx="7240909" cy="1607012"/>
          </a:xfrm>
        </p:spPr>
        <p:txBody>
          <a:bodyPr>
            <a:normAutofit/>
          </a:bodyPr>
          <a:lstStyle/>
          <a:p>
            <a:r>
              <a:rPr lang="en-US" dirty="0"/>
              <a:t>The graphs show that offenses like murder and sex abuse have the longest average sentences, while crimes such as drug trafficking, robbery ,and firearms often receive prison-only sentences, and fraud offenses are more likely to result in probation or alternative sentences.</a:t>
            </a:r>
          </a:p>
        </p:txBody>
      </p:sp>
    </p:spTree>
    <p:extLst>
      <p:ext uri="{BB962C8B-B14F-4D97-AF65-F5344CB8AC3E}">
        <p14:creationId xmlns:p14="http://schemas.microsoft.com/office/powerpoint/2010/main" val="3776285528"/>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A0BD-78D6-6D4C-23F4-9074864289DE}"/>
              </a:ext>
            </a:extLst>
          </p:cNvPr>
          <p:cNvSpPr>
            <a:spLocks noGrp="1"/>
          </p:cNvSpPr>
          <p:nvPr>
            <p:ph type="title"/>
          </p:nvPr>
        </p:nvSpPr>
        <p:spPr/>
        <p:txBody>
          <a:bodyPr/>
          <a:lstStyle/>
          <a:p>
            <a:r>
              <a:rPr lang="en-US" dirty="0"/>
              <a:t>Data insights</a:t>
            </a:r>
          </a:p>
        </p:txBody>
      </p:sp>
      <p:sp>
        <p:nvSpPr>
          <p:cNvPr id="3" name="Content Placeholder 2">
            <a:extLst>
              <a:ext uri="{FF2B5EF4-FFF2-40B4-BE49-F238E27FC236}">
                <a16:creationId xmlns:a16="http://schemas.microsoft.com/office/drawing/2014/main" id="{9656FC03-9C22-B53B-45E8-A329B82E86FB}"/>
              </a:ext>
            </a:extLst>
          </p:cNvPr>
          <p:cNvSpPr>
            <a:spLocks noGrp="1"/>
          </p:cNvSpPr>
          <p:nvPr>
            <p:ph idx="1"/>
          </p:nvPr>
        </p:nvSpPr>
        <p:spPr>
          <a:xfrm>
            <a:off x="420554" y="2341135"/>
            <a:ext cx="11029615" cy="3678303"/>
          </a:xfrm>
        </p:spPr>
        <p:txBody>
          <a:bodyPr>
            <a:normAutofit fontScale="25000" lnSpcReduction="20000"/>
          </a:bodyPr>
          <a:lstStyle/>
          <a:p>
            <a:pPr marL="0" indent="0">
              <a:buNone/>
            </a:pPr>
            <a:r>
              <a:rPr lang="en-US" sz="5600" b="1" dirty="0"/>
              <a:t>What did I learn?</a:t>
            </a:r>
          </a:p>
          <a:p>
            <a:r>
              <a:rPr lang="en-US" sz="5600" b="1" dirty="0"/>
              <a:t>In the five school districts (Joliet Twp HSD 204, Kennedale ISD, Anna ISD, Derby, and Charlotte Public Schools), White and Hispanic students had the highest referral rates.</a:t>
            </a:r>
          </a:p>
          <a:p>
            <a:r>
              <a:rPr lang="en-US" sz="5600" b="1" dirty="0"/>
              <a:t>Men in Texas North, Illinois North, Missouri East, Kansas, and Michigan East receive much longer sentences than women (74 months vs. 40 months).</a:t>
            </a:r>
          </a:p>
          <a:p>
            <a:r>
              <a:rPr lang="en-US" sz="5600" b="1" dirty="0"/>
              <a:t>Murder, Sex Abuse, and Child Pornography have the longest sentences, while financial crimes often result in probation.</a:t>
            </a:r>
          </a:p>
          <a:p>
            <a:r>
              <a:rPr lang="en-US" sz="5600" b="1" dirty="0"/>
              <a:t>Most crimes lead to prison time, with very few cases resulting in only fines or probation.</a:t>
            </a:r>
          </a:p>
          <a:p>
            <a:br>
              <a:rPr lang="en-US" sz="5600" b="1" dirty="0"/>
            </a:br>
            <a:r>
              <a:rPr lang="en-US" sz="5600" b="1" dirty="0"/>
              <a:t>Actionable Insights:</a:t>
            </a:r>
          </a:p>
          <a:p>
            <a:r>
              <a:rPr lang="en-US" sz="5600" b="1" dirty="0"/>
              <a:t>Sentencing policies in the five districts should be analyzed to address disparities in gender and race-based sentencing outcomes.</a:t>
            </a:r>
          </a:p>
          <a:p>
            <a:r>
              <a:rPr lang="en-US" sz="5600" b="1" dirty="0"/>
              <a:t>More alternative sentencing options should be available for non-violent offenders in these regions.</a:t>
            </a:r>
          </a:p>
          <a:p>
            <a:r>
              <a:rPr lang="en-US" sz="5600" b="1" dirty="0"/>
              <a:t>Restorative justice programs in schools could help lower the rate of referrals and arrests.</a:t>
            </a:r>
          </a:p>
          <a:p>
            <a:pPr marL="0" indent="0" algn="l">
              <a:buNone/>
            </a:pPr>
            <a:r>
              <a:rPr lang="en-US" sz="5600" b="1" i="0" u="none" strike="noStrike" dirty="0">
                <a:solidFill>
                  <a:srgbClr val="000000"/>
                </a:solidFill>
                <a:effectLst/>
              </a:rPr>
              <a:t>Realistic Steps:</a:t>
            </a:r>
          </a:p>
          <a:p>
            <a:pPr>
              <a:buFont typeface="Arial" panose="020B0604020202020204" pitchFamily="34" charset="0"/>
              <a:buChar char="•"/>
            </a:pPr>
            <a:r>
              <a:rPr lang="en-US" sz="5600" b="1" i="0" u="none" strike="noStrike" dirty="0">
                <a:solidFill>
                  <a:srgbClr val="000000"/>
                </a:solidFill>
                <a:effectLst/>
              </a:rPr>
              <a:t>Train school staff and officers on fair discipline practices.</a:t>
            </a:r>
          </a:p>
          <a:p>
            <a:pPr>
              <a:buFont typeface="Arial" panose="020B0604020202020204" pitchFamily="34" charset="0"/>
              <a:buChar char="•"/>
            </a:pPr>
            <a:r>
              <a:rPr lang="en-US" sz="5600" b="1" i="0" u="none" strike="noStrike" dirty="0">
                <a:solidFill>
                  <a:srgbClr val="000000"/>
                </a:solidFill>
                <a:effectLst/>
              </a:rPr>
              <a:t>Reevaluate sentencing guidelines in Texas North, Illinois North, Missouri East, Kansas, and Michigan East to ensure fairness.</a:t>
            </a:r>
          </a:p>
          <a:p>
            <a:pPr algn="l">
              <a:buFont typeface="Arial" panose="020B0604020202020204" pitchFamily="34" charset="0"/>
              <a:buChar char="•"/>
            </a:pPr>
            <a:r>
              <a:rPr lang="en-US" sz="5600" b="1" dirty="0">
                <a:solidFill>
                  <a:srgbClr val="000000"/>
                </a:solidFill>
              </a:rPr>
              <a:t>Support community-based diversion programs for youth.</a:t>
            </a:r>
            <a:endParaRPr lang="en-US" b="1" dirty="0"/>
          </a:p>
        </p:txBody>
      </p:sp>
    </p:spTree>
    <p:extLst>
      <p:ext uri="{BB962C8B-B14F-4D97-AF65-F5344CB8AC3E}">
        <p14:creationId xmlns:p14="http://schemas.microsoft.com/office/powerpoint/2010/main" val="3457855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45051-E0E4-FF17-EE73-927B4D25092F}"/>
              </a:ext>
            </a:extLst>
          </p:cNvPr>
          <p:cNvSpPr>
            <a:spLocks noGrp="1"/>
          </p:cNvSpPr>
          <p:nvPr>
            <p:ph type="title"/>
          </p:nvPr>
        </p:nvSpPr>
        <p:spPr/>
        <p:txBody>
          <a:bodyPr/>
          <a:lstStyle/>
          <a:p>
            <a:r>
              <a:rPr lang="en-US" dirty="0"/>
              <a:t>Project challenges</a:t>
            </a:r>
          </a:p>
        </p:txBody>
      </p:sp>
      <p:sp>
        <p:nvSpPr>
          <p:cNvPr id="3" name="Content Placeholder 2">
            <a:extLst>
              <a:ext uri="{FF2B5EF4-FFF2-40B4-BE49-F238E27FC236}">
                <a16:creationId xmlns:a16="http://schemas.microsoft.com/office/drawing/2014/main" id="{0ADED346-E442-913C-3D1D-F05543C4F38B}"/>
              </a:ext>
            </a:extLst>
          </p:cNvPr>
          <p:cNvSpPr>
            <a:spLocks noGrp="1"/>
          </p:cNvSpPr>
          <p:nvPr>
            <p:ph idx="1"/>
          </p:nvPr>
        </p:nvSpPr>
        <p:spPr/>
        <p:txBody>
          <a:bodyPr>
            <a:normAutofit fontScale="92500" lnSpcReduction="20000"/>
          </a:bodyPr>
          <a:lstStyle/>
          <a:p>
            <a:pPr marL="0" indent="0">
              <a:buNone/>
            </a:pPr>
            <a:r>
              <a:rPr lang="en-US" b="1" dirty="0"/>
              <a:t>Challenges Faced:</a:t>
            </a:r>
          </a:p>
          <a:p>
            <a:r>
              <a:rPr lang="en-US" b="1" dirty="0"/>
              <a:t>I had trouble deciding on a specific social issue to focus on at the start of the project.</a:t>
            </a:r>
          </a:p>
          <a:p>
            <a:r>
              <a:rPr lang="en-US" b="1" dirty="0"/>
              <a:t>Finding relevant datasets that correlated with my issue was challenging.</a:t>
            </a:r>
          </a:p>
          <a:p>
            <a:pPr marL="0" indent="0">
              <a:buNone/>
            </a:pPr>
            <a:r>
              <a:rPr lang="en-US" b="1" dirty="0"/>
              <a:t>What I Would Do Differently:</a:t>
            </a:r>
          </a:p>
          <a:p>
            <a:r>
              <a:rPr lang="en-US" b="1" dirty="0"/>
              <a:t>Research other available datasets before finalizing my topic to ensure there is enough data to analyze.</a:t>
            </a:r>
          </a:p>
          <a:p>
            <a:r>
              <a:rPr lang="en-US" b="1" dirty="0"/>
              <a:t>Explore broader connections between different datasets to strengthen the analysis.</a:t>
            </a:r>
          </a:p>
          <a:p>
            <a:pPr marL="0" indent="0">
              <a:buNone/>
            </a:pPr>
            <a:r>
              <a:rPr lang="en-US" b="1" dirty="0"/>
              <a:t>What I Would Do With More Time:</a:t>
            </a:r>
          </a:p>
          <a:p>
            <a:r>
              <a:rPr lang="en-US" b="1" dirty="0"/>
              <a:t>Analyze districts with low referral and arrest rates to understand what policies or practices contribute to fewer law enforcement interactions.</a:t>
            </a:r>
          </a:p>
          <a:p>
            <a:r>
              <a:rPr lang="en-US" b="1" dirty="0"/>
              <a:t>Compare trends over multiple years to see if referral and arrest rates are improving or worsening.</a:t>
            </a:r>
          </a:p>
          <a:p>
            <a:r>
              <a:rPr lang="en-US" b="1" dirty="0"/>
              <a:t>Look deeper into the sentencing process.</a:t>
            </a:r>
          </a:p>
        </p:txBody>
      </p:sp>
    </p:spTree>
    <p:extLst>
      <p:ext uri="{BB962C8B-B14F-4D97-AF65-F5344CB8AC3E}">
        <p14:creationId xmlns:p14="http://schemas.microsoft.com/office/powerpoint/2010/main" val="1492126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4395-7C2F-4E3F-D281-B2E4D50BC02E}"/>
              </a:ext>
            </a:extLst>
          </p:cNvPr>
          <p:cNvSpPr>
            <a:spLocks noGrp="1"/>
          </p:cNvSpPr>
          <p:nvPr>
            <p:ph type="title"/>
          </p:nvPr>
        </p:nvSpPr>
        <p:spPr/>
        <p:txBody>
          <a:bodyPr/>
          <a:lstStyle/>
          <a:p>
            <a:r>
              <a:rPr lang="en-US" dirty="0"/>
              <a:t>Future projects</a:t>
            </a:r>
          </a:p>
        </p:txBody>
      </p:sp>
      <p:sp>
        <p:nvSpPr>
          <p:cNvPr id="3" name="Content Placeholder 2">
            <a:extLst>
              <a:ext uri="{FF2B5EF4-FFF2-40B4-BE49-F238E27FC236}">
                <a16:creationId xmlns:a16="http://schemas.microsoft.com/office/drawing/2014/main" id="{7B4F7678-B0D2-CD7C-D7BC-65E883F82940}"/>
              </a:ext>
            </a:extLst>
          </p:cNvPr>
          <p:cNvSpPr>
            <a:spLocks noGrp="1"/>
          </p:cNvSpPr>
          <p:nvPr>
            <p:ph idx="1"/>
          </p:nvPr>
        </p:nvSpPr>
        <p:spPr/>
        <p:txBody>
          <a:bodyPr/>
          <a:lstStyle/>
          <a:p>
            <a:pPr marL="0" indent="0">
              <a:buNone/>
            </a:pPr>
            <a:r>
              <a:rPr lang="en-US" b="1" dirty="0"/>
              <a:t>Suggestions for Future Data Analytics Projects:</a:t>
            </a:r>
          </a:p>
          <a:p>
            <a:r>
              <a:rPr lang="en-US" b="1" dirty="0"/>
              <a:t>Explore how school funding affects referral and arrest rates.</a:t>
            </a:r>
          </a:p>
          <a:p>
            <a:r>
              <a:rPr lang="en-US" b="1" dirty="0"/>
              <a:t>Analyze the impact of alternative discipline programs on student outcomes.</a:t>
            </a:r>
          </a:p>
          <a:p>
            <a:r>
              <a:rPr lang="en-US" b="1" dirty="0"/>
              <a:t>Examine how sentencing varies based on legal representation and plea deals.</a:t>
            </a:r>
          </a:p>
          <a:p>
            <a:pPr marL="0" indent="0">
              <a:buNone/>
            </a:pPr>
            <a:endParaRPr lang="en-US" dirty="0"/>
          </a:p>
        </p:txBody>
      </p:sp>
    </p:spTree>
    <p:extLst>
      <p:ext uri="{BB962C8B-B14F-4D97-AF65-F5344CB8AC3E}">
        <p14:creationId xmlns:p14="http://schemas.microsoft.com/office/powerpoint/2010/main" val="4016704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5B858-0B44-CF6A-8959-64A768EFD256}"/>
              </a:ext>
            </a:extLst>
          </p:cNvPr>
          <p:cNvSpPr>
            <a:spLocks noGrp="1"/>
          </p:cNvSpPr>
          <p:nvPr>
            <p:ph type="title"/>
          </p:nvPr>
        </p:nvSpPr>
        <p:spPr>
          <a:xfrm>
            <a:off x="581192" y="702156"/>
            <a:ext cx="11029616" cy="1013800"/>
          </a:xfrm>
        </p:spPr>
        <p:txBody>
          <a:bodyPr>
            <a:normAutofit/>
          </a:bodyPr>
          <a:lstStyle/>
          <a:p>
            <a:r>
              <a:rPr lang="en-US" dirty="0">
                <a:solidFill>
                  <a:srgbClr val="FFFEFF"/>
                </a:solidFill>
              </a:rPr>
              <a:t>references</a:t>
            </a:r>
          </a:p>
        </p:txBody>
      </p:sp>
      <p:graphicFrame>
        <p:nvGraphicFramePr>
          <p:cNvPr id="33" name="Content Placeholder 2">
            <a:extLst>
              <a:ext uri="{FF2B5EF4-FFF2-40B4-BE49-F238E27FC236}">
                <a16:creationId xmlns:a16="http://schemas.microsoft.com/office/drawing/2014/main" id="{89D079ED-0C2F-2E14-2258-93E61BD4BA45}"/>
              </a:ext>
            </a:extLst>
          </p:cNvPr>
          <p:cNvGraphicFramePr>
            <a:graphicFrameLocks noGrp="1"/>
          </p:cNvGraphicFramePr>
          <p:nvPr>
            <p:ph idx="1"/>
            <p:extLst>
              <p:ext uri="{D42A27DB-BD31-4B8C-83A1-F6EECF244321}">
                <p14:modId xmlns:p14="http://schemas.microsoft.com/office/powerpoint/2010/main" val="4222863557"/>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672454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8551</TotalTime>
  <Words>2198</Words>
  <Application>Microsoft Macintosh PowerPoint</Application>
  <PresentationFormat>Widescreen</PresentationFormat>
  <Paragraphs>159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Gill Sans MT</vt:lpstr>
      <vt:lpstr>Wingdings 2</vt:lpstr>
      <vt:lpstr>Dividend</vt:lpstr>
      <vt:lpstr>School- to-prison pipeline</vt:lpstr>
      <vt:lpstr>introduction</vt:lpstr>
      <vt:lpstr>What is the Issue ? </vt:lpstr>
      <vt:lpstr>Literature review </vt:lpstr>
      <vt:lpstr>Problem statement</vt:lpstr>
      <vt:lpstr>Data questions </vt:lpstr>
      <vt:lpstr>Data source</vt:lpstr>
      <vt:lpstr>Data topics in the datasets</vt:lpstr>
      <vt:lpstr>Ingestion – the data</vt:lpstr>
      <vt:lpstr>Final features selected </vt:lpstr>
      <vt:lpstr>Final analytic dataset</vt:lpstr>
      <vt:lpstr>Data wrangling </vt:lpstr>
      <vt:lpstr>How do referral rates to law enforcement vary across different school districts and states?  </vt:lpstr>
      <vt:lpstr>Is there a significant difference in referral and arrest rates based on student demographics?</vt:lpstr>
      <vt:lpstr>How do Offense rates For vary across different school districts?</vt:lpstr>
      <vt:lpstr>What demographic trends can be observed in sentencing practices for federal offenses?</vt:lpstr>
      <vt:lpstr>Are there correlations between different offense types and sentencing outcomes?</vt:lpstr>
      <vt:lpstr>Data insights</vt:lpstr>
      <vt:lpstr>Project challenges</vt:lpstr>
      <vt:lpstr>Future projects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Saniya Sherelle Isaac</dc:creator>
  <cp:lastModifiedBy>Saniya Sherelle Isaac</cp:lastModifiedBy>
  <cp:revision>3</cp:revision>
  <dcterms:created xsi:type="dcterms:W3CDTF">2025-02-02T21:58:44Z</dcterms:created>
  <dcterms:modified xsi:type="dcterms:W3CDTF">2025-10-30T16:37:49Z</dcterms:modified>
</cp:coreProperties>
</file>