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72" r:id="rId5"/>
    <p:sldId id="263" r:id="rId6"/>
    <p:sldId id="274" r:id="rId7"/>
    <p:sldId id="275" r:id="rId8"/>
    <p:sldId id="273" r:id="rId9"/>
    <p:sldId id="260" r:id="rId10"/>
    <p:sldId id="261" r:id="rId11"/>
    <p:sldId id="262" r:id="rId12"/>
    <p:sldId id="264" r:id="rId13"/>
    <p:sldId id="267" r:id="rId14"/>
    <p:sldId id="268" r:id="rId15"/>
    <p:sldId id="271" r:id="rId16"/>
    <p:sldId id="276" r:id="rId17"/>
    <p:sldId id="277" r:id="rId18"/>
    <p:sldId id="265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095CDD-F6E7-D341-B1A6-6E180E01EE75}" v="333" dt="2024-12-09T20:02:50.442"/>
    <p1510:client id="{5B1F89A8-2351-1B19-CECF-71B24870BC26}" v="1" dt="2024-12-09T15:36:50.576"/>
    <p1510:client id="{A430CDA1-7D20-E58E-77F3-F76F3B1912F1}" v="19" dt="2024-12-09T01:06:50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>
      <p:cViewPr varScale="1">
        <p:scale>
          <a:sx n="104" d="100"/>
          <a:sy n="104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5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9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6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8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4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8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6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7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9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5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74442&amp;picture=fraud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F0A56-ECAF-AA77-A1ED-F4540A6F6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4098524"/>
            <a:ext cx="5996628" cy="2226076"/>
          </a:xfrm>
        </p:spPr>
        <p:txBody>
          <a:bodyPr anchor="ctr">
            <a:normAutofit/>
          </a:bodyPr>
          <a:lstStyle/>
          <a:p>
            <a:pPr algn="l"/>
            <a:r>
              <a:rPr lang="en-US" sz="5400"/>
              <a:t>FICO Analytic Challenge</a:t>
            </a:r>
          </a:p>
        </p:txBody>
      </p: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FD57FA8A-6F6A-4738-A4C4-A1CA44170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722FA65-4717-473D-935C-1E9703E21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0481A62F-BE87-4513-97B2-027784C6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00486A8-7935-4814-A88E-8AB9135699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D5DFA27-8F9C-4DAD-841C-EC15FDFDF9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BD0BA0A-7296-4EF5-8B4C-9644798AB6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5F1A67E-7F6A-4D1C-9630-CEA191C72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E1300E6-8909-46D4-80E7-2122D24D35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E4C708C-5388-41A0-984B-3698E2B9EB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5D7DAE6-94E0-4A1D-92A3-7D751872B7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F513D8C-ECEE-40F4-99D3-6C744A1E9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47E74AD6-241A-5E11-E391-24CA5B49B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30" y="4085112"/>
            <a:ext cx="3997745" cy="2228758"/>
          </a:xfrm>
        </p:spPr>
        <p:txBody>
          <a:bodyPr anchor="ctr">
            <a:normAutofit/>
          </a:bodyPr>
          <a:lstStyle/>
          <a:p>
            <a:pPr algn="l"/>
            <a:r>
              <a:rPr lang="en-US" sz="2200"/>
              <a:t>By Ameen Rufai, Khalil Greene &amp; Saniya Isaac</a:t>
            </a:r>
          </a:p>
        </p:txBody>
      </p:sp>
      <p:pic>
        <p:nvPicPr>
          <p:cNvPr id="4" name="Picture 3" descr="Financial graphs on a dark display">
            <a:extLst>
              <a:ext uri="{FF2B5EF4-FFF2-40B4-BE49-F238E27FC236}">
                <a16:creationId xmlns:a16="http://schemas.microsoft.com/office/drawing/2014/main" id="{B1913BDC-2C23-24A1-7694-620046181B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80" r="-2" b="15186"/>
          <a:stretch/>
        </p:blipFill>
        <p:spPr>
          <a:xfrm>
            <a:off x="619841" y="10"/>
            <a:ext cx="11084189" cy="3854020"/>
          </a:xfrm>
          <a:custGeom>
            <a:avLst/>
            <a:gdLst/>
            <a:ahLst/>
            <a:cxnLst/>
            <a:rect l="l" t="t" r="r" b="b"/>
            <a:pathLst>
              <a:path w="11084189" h="3854030">
                <a:moveTo>
                  <a:pt x="0" y="0"/>
                </a:moveTo>
                <a:lnTo>
                  <a:pt x="11084189" y="0"/>
                </a:lnTo>
                <a:lnTo>
                  <a:pt x="11061525" y="105743"/>
                </a:lnTo>
                <a:cubicBezTo>
                  <a:pt x="10536186" y="2244886"/>
                  <a:pt x="8264668" y="3854030"/>
                  <a:pt x="5542094" y="3854030"/>
                </a:cubicBezTo>
                <a:cubicBezTo>
                  <a:pt x="2819520" y="3854030"/>
                  <a:pt x="548002" y="2244886"/>
                  <a:pt x="22663" y="105743"/>
                </a:cubicBezTo>
                <a:close/>
              </a:path>
            </a:pathLst>
          </a:custGeom>
        </p:spPr>
      </p:pic>
      <p:grpSp>
        <p:nvGrpSpPr>
          <p:cNvPr id="25" name="Top Left">
            <a:extLst>
              <a:ext uri="{FF2B5EF4-FFF2-40B4-BE49-F238E27FC236}">
                <a16:creationId xmlns:a16="http://schemas.microsoft.com/office/drawing/2014/main" id="{FA83938A-824D-4A58-A16F-424E25498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7029D1-A024-479E-8B61-B6C59454B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D14A3F6-E603-4A77-BE8B-52A8CC119F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BABB92-B7C9-439B-A407-C26CAC92F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806CE1-04AF-4087-986A-DBEB74501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73482B9-3ACD-4DBF-BF7A-865B7BBD10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F72E41-C373-4050-A899-B9FDE5113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B521439-93BF-4D49-9EB4-9FA798186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" name="Cross">
            <a:extLst>
              <a:ext uri="{FF2B5EF4-FFF2-40B4-BE49-F238E27FC236}">
                <a16:creationId xmlns:a16="http://schemas.microsoft.com/office/drawing/2014/main" id="{8593C7C3-23A8-4377-B2A6-0AA4120CF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" y="553414"/>
            <a:ext cx="118872" cy="118872"/>
            <a:chOff x="1175347" y="3733800"/>
            <a:chExt cx="118872" cy="118872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09466-D21B-48B6-B71E-2E3DC7068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E19A168-D974-4872-8F82-BDB7121D1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8" name="Cross">
            <a:extLst>
              <a:ext uri="{FF2B5EF4-FFF2-40B4-BE49-F238E27FC236}">
                <a16:creationId xmlns:a16="http://schemas.microsoft.com/office/drawing/2014/main" id="{B531CCBB-545A-412B-89AF-AEB3068A7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4400" y="705814"/>
            <a:ext cx="118872" cy="118872"/>
            <a:chOff x="1175347" y="3733800"/>
            <a:chExt cx="118872" cy="118872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8FD4C8-4A36-4CB1-9391-65AA566FF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5FC3684-0929-46EE-A97F-3BEE86C8F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0180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1207EA-1BD5-E67E-BACB-B1EC8A3F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390807" cy="1664573"/>
          </a:xfrm>
        </p:spPr>
        <p:txBody>
          <a:bodyPr>
            <a:normAutofit/>
          </a:bodyPr>
          <a:lstStyle/>
          <a:p>
            <a:r>
              <a:rPr lang="en-US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AAD9B-F202-D8A6-8645-BC5B9C041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84474"/>
            <a:ext cx="4390524" cy="37286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/>
              <a:t>Introduction</a:t>
            </a:r>
          </a:p>
          <a:p>
            <a:pPr>
              <a:lnSpc>
                <a:spcPct val="100000"/>
              </a:lnSpc>
            </a:pPr>
            <a:r>
              <a:rPr lang="en-US" sz="1800"/>
              <a:t>Data Analysis</a:t>
            </a:r>
          </a:p>
          <a:p>
            <a:pPr>
              <a:lnSpc>
                <a:spcPct val="100000"/>
              </a:lnSpc>
            </a:pPr>
            <a:r>
              <a:rPr lang="en-US" sz="1800"/>
              <a:t>Feature Engineering and Selection</a:t>
            </a:r>
          </a:p>
          <a:p>
            <a:pPr>
              <a:lnSpc>
                <a:spcPct val="100000"/>
              </a:lnSpc>
            </a:pPr>
            <a:r>
              <a:rPr lang="en-US" sz="1800"/>
              <a:t>Plots</a:t>
            </a:r>
          </a:p>
          <a:p>
            <a:pPr>
              <a:lnSpc>
                <a:spcPct val="100000"/>
              </a:lnSpc>
            </a:pPr>
            <a:r>
              <a:rPr lang="en-US" sz="1800"/>
              <a:t>Model Architecture</a:t>
            </a:r>
          </a:p>
          <a:p>
            <a:pPr>
              <a:lnSpc>
                <a:spcPct val="100000"/>
              </a:lnSpc>
            </a:pPr>
            <a:r>
              <a:rPr lang="en-US" sz="1800"/>
              <a:t>Performance Metrics</a:t>
            </a:r>
          </a:p>
          <a:p>
            <a:pPr>
              <a:lnSpc>
                <a:spcPct val="100000"/>
              </a:lnSpc>
            </a:pPr>
            <a:r>
              <a:rPr lang="en-US" sz="1800"/>
              <a:t>Performance Metrics Plots</a:t>
            </a:r>
          </a:p>
          <a:p>
            <a:pPr>
              <a:lnSpc>
                <a:spcPct val="100000"/>
              </a:lnSpc>
            </a:pPr>
            <a:r>
              <a:rPr lang="en-US" sz="1800"/>
              <a:t>Conclusion</a:t>
            </a:r>
          </a:p>
          <a:p>
            <a:pPr>
              <a:lnSpc>
                <a:spcPct val="100000"/>
              </a:lnSpc>
            </a:pPr>
            <a:r>
              <a:rPr lang="en-US" sz="1800"/>
              <a:t>Acknowledgement</a:t>
            </a:r>
          </a:p>
        </p:txBody>
      </p:sp>
      <p:pic>
        <p:nvPicPr>
          <p:cNvPr id="5" name="Picture 4" descr="Buildings and reflections">
            <a:extLst>
              <a:ext uri="{FF2B5EF4-FFF2-40B4-BE49-F238E27FC236}">
                <a16:creationId xmlns:a16="http://schemas.microsoft.com/office/drawing/2014/main" id="{DD30259F-6629-6048-3C36-E1CE845D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78" r="17920" b="-1"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229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Top left">
            <a:extLst>
              <a:ext uri="{FF2B5EF4-FFF2-40B4-BE49-F238E27FC236}">
                <a16:creationId xmlns:a16="http://schemas.microsoft.com/office/drawing/2014/main" id="{A345EEC5-ECAA-408B-B9D7-1C0E1102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9B09D8-FF9D-4CE5-853B-3BA46FD5C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C978A2-F53F-4B72-9BAC-5F78F00B6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F73D09D-1DE1-441E-88F5-CD2CBAB88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DE61DBF-5FB0-4603-BE95-C566DD48B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8C89DF5-F013-4C54-B9AD-2E158706C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D89947-A3CF-4B11-8DE7-5D07A57CB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3E24021-DB80-451B-96A6-0D21AC0C8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BDA2B48-4CD9-45C3-8F12-21255336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E1F514-A7DE-72C6-6EEE-D5BB6F95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246090" cy="1471193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1EB47-204B-3D78-AA28-39E0CB15F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372" y="2012218"/>
            <a:ext cx="5132747" cy="4646621"/>
          </a:xfrm>
        </p:spPr>
        <p:txBody>
          <a:bodyPr>
            <a:normAutofit/>
          </a:bodyPr>
          <a:lstStyle/>
          <a:p>
            <a:r>
              <a:rPr lang="en-US" sz="1600" b="1"/>
              <a:t>Who We Are</a:t>
            </a:r>
            <a:r>
              <a:rPr lang="en-US" sz="1600"/>
              <a:t>: Team Sneak Attack, a group of three curious data enthusiasts.</a:t>
            </a:r>
          </a:p>
          <a:p>
            <a:r>
              <a:rPr lang="en-US" sz="1600" b="1"/>
              <a:t>Problem Statement</a:t>
            </a:r>
            <a:r>
              <a:rPr lang="en-US" sz="1600"/>
              <a:t>: Develop a model to accurately detect fraudulent transactions by analyzing patterns in transaction data, minimizing false positives, and preventing financial losses.</a:t>
            </a:r>
          </a:p>
          <a:p>
            <a:r>
              <a:rPr lang="en-US" sz="1600" b="1"/>
              <a:t>Key Achievements</a:t>
            </a:r>
            <a:r>
              <a:rPr lang="en-US" sz="1600"/>
              <a:t>: Developed and refined models over 11 weeks.</a:t>
            </a:r>
          </a:p>
          <a:p>
            <a:r>
              <a:rPr lang="en-US" sz="1600"/>
              <a:t>Focused on innovative feature engineering and neural network modeling.</a:t>
            </a:r>
          </a:p>
          <a:p>
            <a:r>
              <a:rPr lang="en-US" sz="1600"/>
              <a:t>Achieved significant accuracy in detecting fraudulent transactions.</a:t>
            </a:r>
          </a:p>
          <a:p>
            <a:pPr marL="0" indent="0">
              <a:buNone/>
            </a:pPr>
            <a:endParaRPr lang="en-US" sz="1600"/>
          </a:p>
          <a:p>
            <a:endParaRPr lang="en-US" sz="1600"/>
          </a:p>
        </p:txBody>
      </p:sp>
      <p:pic>
        <p:nvPicPr>
          <p:cNvPr id="5" name="Picture 4" descr="A close-up of a word&#10;&#10;Description automatically generated">
            <a:extLst>
              <a:ext uri="{FF2B5EF4-FFF2-40B4-BE49-F238E27FC236}">
                <a16:creationId xmlns:a16="http://schemas.microsoft.com/office/drawing/2014/main" id="{32C1EAC3-B46A-6448-3375-8F8842889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24730" y="1884986"/>
            <a:ext cx="4967270" cy="3319039"/>
          </a:xfrm>
          <a:prstGeom prst="rect">
            <a:avLst/>
          </a:prstGeom>
        </p:spPr>
      </p:pic>
      <p:grpSp>
        <p:nvGrpSpPr>
          <p:cNvPr id="24" name="Bottom Right">
            <a:extLst>
              <a:ext uri="{FF2B5EF4-FFF2-40B4-BE49-F238E27FC236}">
                <a16:creationId xmlns:a16="http://schemas.microsoft.com/office/drawing/2014/main" id="{F0A218EB-ECC2-4D0D-9EDC-F5CB062C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419D1C3-874F-4BF6-A356-1EA4A20D4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4AC4AE33-203A-4A93-8263-6CC6BB608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F15373C-6DCA-4058-94CC-6476950E5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61BE5B1-15E0-484D-8B21-F6BA455B21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1167C23-6882-4551-BF77-DF537E736E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0749460-4B9F-4DE4-9931-7B5831D68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567746C-E54C-4865-ACF1-CD31DD1D8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E7B0826-2FBE-4B23-B784-BB7CDA8B3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DF54EDF-BA0A-440F-B20A-2A76BFE15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53B2ADC-F80C-403E-B1CA-BCFED2CE5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393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D076-F3F0-7EB6-12FF-55AB967B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CC03-55F4-3512-C718-3C7CC4F45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45" y="1913760"/>
            <a:ext cx="5815988" cy="4351338"/>
          </a:xfrm>
        </p:spPr>
        <p:txBody>
          <a:bodyPr>
            <a:normAutofit/>
          </a:bodyPr>
          <a:lstStyle/>
          <a:p>
            <a:r>
              <a:rPr lang="en-US" sz="1600" b="1"/>
              <a:t>Exploring Patterns in Transaction Data provided.</a:t>
            </a:r>
          </a:p>
          <a:p>
            <a:r>
              <a:rPr lang="en-US" sz="1600" b="1"/>
              <a:t>Key Insights</a:t>
            </a:r>
            <a:r>
              <a:rPr lang="en-US" sz="1600"/>
              <a:t>: </a:t>
            </a:r>
          </a:p>
          <a:p>
            <a:r>
              <a:rPr lang="en-US" sz="1600"/>
              <a:t>The U.S. has the highest fraud rate (57%), significantly more than other countries.</a:t>
            </a:r>
          </a:p>
          <a:p>
            <a:r>
              <a:rPr lang="en-US" sz="1600"/>
              <a:t>Fraudulent transactions are rare, accounting for less than 1% of all domestic and cross-border transactions.</a:t>
            </a:r>
          </a:p>
          <a:p>
            <a:r>
              <a:rPr lang="en-US" sz="1600" b="1"/>
              <a:t>Visuals Created</a:t>
            </a:r>
            <a:r>
              <a:rPr lang="en-US" sz="1600"/>
              <a:t>: </a:t>
            </a:r>
          </a:p>
          <a:p>
            <a:r>
              <a:rPr lang="en-US" sz="1600"/>
              <a:t>Histogram showing fraud and non-fraud distribution by country.</a:t>
            </a:r>
          </a:p>
          <a:p>
            <a:r>
              <a:rPr lang="en-US" sz="1600"/>
              <a:t>Pie chart breaking down fraud by transaction type.</a:t>
            </a:r>
          </a:p>
          <a:p>
            <a:endParaRPr lang="en-US" sz="160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C55C911-056E-C12F-24B0-F255C45027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7" t="41928" b="-2875"/>
          <a:stretch/>
        </p:blipFill>
        <p:spPr bwMode="auto">
          <a:xfrm>
            <a:off x="6315955" y="1825625"/>
            <a:ext cx="5575300" cy="17907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A close-up of a graph&#10;&#10;Description automatically generated">
            <a:extLst>
              <a:ext uri="{FF2B5EF4-FFF2-40B4-BE49-F238E27FC236}">
                <a16:creationId xmlns:a16="http://schemas.microsoft.com/office/drawing/2014/main" id="{72E1FEA1-6274-8993-BB67-A15EFF1D3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955" y="3570820"/>
            <a:ext cx="5575300" cy="246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01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39DD-30D4-E6CF-7A1B-7C4A382B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Engineering and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4215-C527-92B7-59E1-9A8A28639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506" y="1473085"/>
            <a:ext cx="11023294" cy="4351338"/>
          </a:xfrm>
        </p:spPr>
        <p:txBody>
          <a:bodyPr numCol="2">
            <a:noAutofit/>
          </a:bodyPr>
          <a:lstStyle/>
          <a:p>
            <a:r>
              <a:rPr lang="en-US" sz="1600" b="1"/>
              <a:t>Total Input Features: </a:t>
            </a:r>
            <a:r>
              <a:rPr lang="en-US" sz="1600"/>
              <a:t>A total of 19 features were selected and used to train the neural network;</a:t>
            </a:r>
          </a:p>
          <a:p>
            <a:r>
              <a:rPr lang="en-US" sz="1600"/>
              <a:t>The features were; [HighValueHourDeviation, HighValueTransactionRate, IS_0_TO_5AM, IS_12_TO_2PM, IsHighValue, RelativeAmount, amount_diff, amt_trend_24h, amt_trend_5e, category_ratio, count_trend_1h, is_cnp, is_international, is_late_night, num_hi_amt_last_hour, num_last_24_hours, repeat_amt, transactionHour, user_avg_amount]</a:t>
            </a:r>
          </a:p>
          <a:p>
            <a:r>
              <a:rPr lang="en-US" sz="1600" b="1"/>
              <a:t>Key Team-Developed Features:</a:t>
            </a:r>
            <a:endParaRPr lang="en-US" sz="1600"/>
          </a:p>
          <a:p>
            <a:r>
              <a:rPr lang="en-US" sz="1600"/>
              <a:t>IS_12_TO_2PM</a:t>
            </a:r>
          </a:p>
          <a:p>
            <a:r>
              <a:rPr lang="en-US" sz="1600"/>
              <a:t>HighValueHourDeviation</a:t>
            </a:r>
          </a:p>
          <a:p>
            <a:r>
              <a:rPr lang="en-US" sz="1600"/>
              <a:t>HighValueTransactionRate</a:t>
            </a:r>
          </a:p>
          <a:p>
            <a:r>
              <a:rPr lang="en-US" sz="1600"/>
              <a:t>IsHighValue: </a:t>
            </a:r>
          </a:p>
          <a:p>
            <a:r>
              <a:rPr lang="en-US" sz="1600"/>
              <a:t>Consistency Score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600"/>
              <a:t>Spending Spike Score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600"/>
              <a:t>Time Since Last Transaction Score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600"/>
              <a:t>Transaction Diversity Score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600" b="1"/>
              <a:t>Feature Selection: </a:t>
            </a:r>
            <a:r>
              <a:rPr lang="en-US" sz="1600"/>
              <a:t>Chose features that combined transaction behavior, time, and user patterns to maximize fraud detection accuracy.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600"/>
              <a:t>“Recent High-Value Transaction Rate”, ran into conversion errors while trying to input this feature.</a:t>
            </a:r>
          </a:p>
        </p:txBody>
      </p:sp>
    </p:spTree>
    <p:extLst>
      <p:ext uri="{BB962C8B-B14F-4D97-AF65-F5344CB8AC3E}">
        <p14:creationId xmlns:p14="http://schemas.microsoft.com/office/powerpoint/2010/main" val="329266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A494-1C68-1B5D-2962-5196A1F2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Feature Engineering and Selection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58B37-7B20-740A-BE30-05DA6FBF1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b="1"/>
              <a:t>Logistic Regression Overview:</a:t>
            </a:r>
          </a:p>
          <a:p>
            <a:r>
              <a:rPr lang="en-US" sz="1600"/>
              <a:t>Machine learning algorithm used for binary classification, ideal for predicting fraud vs. non-fraud transactions.</a:t>
            </a:r>
          </a:p>
          <a:p>
            <a:r>
              <a:rPr lang="en-US" sz="1600" b="1"/>
              <a:t>Performance Metrics:</a:t>
            </a:r>
          </a:p>
          <a:p>
            <a:r>
              <a:rPr lang="en-US" sz="1600"/>
              <a:t>Fraud Capture Rate (at 0.005 threshold):</a:t>
            </a:r>
          </a:p>
          <a:p>
            <a:r>
              <a:rPr lang="en-US" sz="1600"/>
              <a:t>Train Data: 55.29% of fraud cases correctly identified.</a:t>
            </a:r>
          </a:p>
          <a:p>
            <a:r>
              <a:rPr lang="en-US" sz="1600"/>
              <a:t>Test Data: 50.62% of fraud cases correctly identified.</a:t>
            </a:r>
          </a:p>
          <a:p>
            <a:r>
              <a:rPr lang="en-US" sz="1600"/>
              <a:t>Indicates consistent performance across datasets.</a:t>
            </a:r>
          </a:p>
          <a:p>
            <a:r>
              <a:rPr lang="en-US" sz="1600" b="1"/>
              <a:t>AUC Scores (Area Under the ROC Curve):</a:t>
            </a:r>
          </a:p>
          <a:p>
            <a:r>
              <a:rPr lang="en-US" sz="1600"/>
              <a:t>Card Present (CP): 0.949 – strong ability to distinguish between fraud and non-fraud when the card is physically present.</a:t>
            </a:r>
          </a:p>
          <a:p>
            <a:r>
              <a:rPr lang="en-US" sz="1600"/>
              <a:t>Card Not Present (CNP): 0.984 – even better fraud detection for online/remote transactions, where risks are higher.</a:t>
            </a:r>
          </a:p>
          <a:p>
            <a:pPr marL="0" indent="0">
              <a:buNone/>
            </a:pPr>
            <a:br>
              <a:rPr lang="en-US" sz="1600"/>
            </a:b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18232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2" name="Top left">
            <a:extLst>
              <a:ext uri="{FF2B5EF4-FFF2-40B4-BE49-F238E27FC236}">
                <a16:creationId xmlns:a16="http://schemas.microsoft.com/office/drawing/2014/main" id="{C23BAD38-30D1-4252-8149-903B66D8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EF8871A-7DF5-4751-8948-75984B0FB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6A6F3E3-6529-4B7E-8D31-317E141F1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C70AD52-D54F-41A3-91B9-9BC0DDAF89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37F2387-BA4B-46C5-ABBD-E9272097E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2E1B2E0-5DD5-4599-BDEC-F26CEF9E9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A88C97C-1B3C-4A30-B1C0-D4AFEDC97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6C4CC9D-7C49-41ED-8FE2-61EC66F0B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51EA8C3-05E0-4F68-9BA7-F3F6C669D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FD6F95-0234-B03C-D085-1F36A00A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163350"/>
            <a:ext cx="5996619" cy="20658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Logistic regression plot</a:t>
            </a:r>
          </a:p>
        </p:txBody>
      </p:sp>
      <p:grpSp>
        <p:nvGrpSpPr>
          <p:cNvPr id="52" name="Cross">
            <a:extLst>
              <a:ext uri="{FF2B5EF4-FFF2-40B4-BE49-F238E27FC236}">
                <a16:creationId xmlns:a16="http://schemas.microsoft.com/office/drawing/2014/main" id="{4927067E-BE13-4DBB-AC1E-9847B890B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2F8BF3-36CC-4073-AE00-A422A57FD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95C5F4E-7F61-464E-B716-44F579755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Content Placeholder 4" descr="A graph of a curve&#10;&#10;Description automatically generated">
            <a:extLst>
              <a:ext uri="{FF2B5EF4-FFF2-40B4-BE49-F238E27FC236}">
                <a16:creationId xmlns:a16="http://schemas.microsoft.com/office/drawing/2014/main" id="{CD5091AC-3EEB-5BBD-D9AE-98359999C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0560" y="2385716"/>
            <a:ext cx="4839128" cy="3919694"/>
          </a:xfrm>
          <a:prstGeom prst="rect">
            <a:avLst/>
          </a:prstGeom>
        </p:spPr>
      </p:pic>
      <p:pic>
        <p:nvPicPr>
          <p:cNvPr id="7" name="Picture 6" descr="A graph of a curve&#10;&#10;Description automatically generated with medium confidence">
            <a:extLst>
              <a:ext uri="{FF2B5EF4-FFF2-40B4-BE49-F238E27FC236}">
                <a16:creationId xmlns:a16="http://schemas.microsoft.com/office/drawing/2014/main" id="{4595B4B2-A15C-A201-C997-E0DCFF422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627" y="2387421"/>
            <a:ext cx="5025249" cy="3919694"/>
          </a:xfrm>
          <a:prstGeom prst="rect">
            <a:avLst/>
          </a:prstGeom>
        </p:spPr>
      </p:pic>
      <p:grpSp>
        <p:nvGrpSpPr>
          <p:cNvPr id="56" name="Bottom Right">
            <a:extLst>
              <a:ext uri="{FF2B5EF4-FFF2-40B4-BE49-F238E27FC236}">
                <a16:creationId xmlns:a16="http://schemas.microsoft.com/office/drawing/2014/main" id="{D11A5264-0A9F-46A0-B3ED-9B336D970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57" name="Graphic 157">
              <a:extLst>
                <a:ext uri="{FF2B5EF4-FFF2-40B4-BE49-F238E27FC236}">
                  <a16:creationId xmlns:a16="http://schemas.microsoft.com/office/drawing/2014/main" id="{A1B8A55C-B130-4222-B98F-16CA78B9C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2D40CFF-E2DF-48E0-8896-5166887A3C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7A4DB32-F7AD-42D8-A125-6CFB9B252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6CA230A-C491-40F1-B028-898C23C8D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27DB684-4D1D-4152-8ECC-62EC93D71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0AD88BE-AE84-4CD6-A22A-26C3D9BD20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C9DC46C-EF52-4B9D-98C0-6225FB9D5F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C279F2D-8036-4201-8D63-8BE961F09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554FA09-485D-4EB3-9D6F-C19A292F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690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8" name="Freeform: Shape 12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40" name="Freeform: Shape 14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50" name="Freeform: Shape 16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4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65" name="Freeform: Shape 19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20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21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22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23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24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8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71" name="Freeform: Shape 28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29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30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31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32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33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34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1" name="Top left">
            <a:extLst>
              <a:ext uri="{FF2B5EF4-FFF2-40B4-BE49-F238E27FC236}">
                <a16:creationId xmlns:a16="http://schemas.microsoft.com/office/drawing/2014/main" id="{76C57F27-5AD9-48AC-8DF4-740C7FFA8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8B8F795-A3F3-4167-92AE-99E87718C2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80631A-159B-4376-BAE0-B0A79759B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DC0E3EC-FD85-44A0-A7EC-B45422105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BAA6CA5-1890-4BCA-BB3E-35570EB3E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F29A863-C1B4-4FA5-BE70-56C5D32C3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E37E4F1-D06F-4EA7-BAF7-28F90A86E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B02F5DA-9B92-477E-AD0E-0FFFA288C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6710BBF-A9B3-4872-95A0-D62281467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7F8C62-B856-117B-9134-EA887E36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570602"/>
            <a:ext cx="5996619" cy="22260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Plots of Features</a:t>
            </a:r>
          </a:p>
        </p:txBody>
      </p:sp>
      <p:grpSp>
        <p:nvGrpSpPr>
          <p:cNvPr id="51" name="Cross">
            <a:extLst>
              <a:ext uri="{FF2B5EF4-FFF2-40B4-BE49-F238E27FC236}">
                <a16:creationId xmlns:a16="http://schemas.microsoft.com/office/drawing/2014/main" id="{8470ADF7-086F-4892-83D9-4F8B12F3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AB0C2AC-04D6-48CC-843B-3C8A97D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FAA374E-111C-41A1-8959-A1CE13803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Picture 4" descr="A diagram of a chart&#10;&#10;Description automatically generated with medium confidence">
            <a:extLst>
              <a:ext uri="{FF2B5EF4-FFF2-40B4-BE49-F238E27FC236}">
                <a16:creationId xmlns:a16="http://schemas.microsoft.com/office/drawing/2014/main" id="{26BFCF62-15A8-7FA4-88BB-FDA12513E4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42" y="3146620"/>
            <a:ext cx="3792072" cy="2957815"/>
          </a:xfrm>
          <a:prstGeom prst="rect">
            <a:avLst/>
          </a:prstGeom>
        </p:spPr>
      </p:pic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638951BA-D805-D8F0-4F35-58B730551C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495" y="3374144"/>
            <a:ext cx="3792072" cy="2502767"/>
          </a:xfrm>
          <a:prstGeom prst="rect">
            <a:avLst/>
          </a:prstGeom>
        </p:spPr>
      </p:pic>
      <p:pic>
        <p:nvPicPr>
          <p:cNvPr id="4" name="Content Placeholder 3" descr="A graph with a line going up&#10;&#10;Description automatically generated">
            <a:extLst>
              <a:ext uri="{FF2B5EF4-FFF2-40B4-BE49-F238E27FC236}">
                <a16:creationId xmlns:a16="http://schemas.microsoft.com/office/drawing/2014/main" id="{83972ADB-2A2F-236F-ED4A-C3D1758FA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247" y="3393104"/>
            <a:ext cx="3792072" cy="2464847"/>
          </a:xfrm>
          <a:prstGeom prst="rect">
            <a:avLst/>
          </a:prstGeom>
        </p:spPr>
      </p:pic>
      <p:grpSp>
        <p:nvGrpSpPr>
          <p:cNvPr id="55" name="Bottom Right">
            <a:extLst>
              <a:ext uri="{FF2B5EF4-FFF2-40B4-BE49-F238E27FC236}">
                <a16:creationId xmlns:a16="http://schemas.microsoft.com/office/drawing/2014/main" id="{D9A7A519-71A4-4A41-A58F-BAF342204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56" name="Graphic 157">
              <a:extLst>
                <a:ext uri="{FF2B5EF4-FFF2-40B4-BE49-F238E27FC236}">
                  <a16:creationId xmlns:a16="http://schemas.microsoft.com/office/drawing/2014/main" id="{204C6FE8-57D6-4A3D-B230-D39F9454B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1EDCFD9-3062-4150-A0BC-5606373259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69BE7B5-C4A9-4EB7-917F-834BDC6142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B1A948F-B003-48BE-B4FA-75BC14DF4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3599387-57C9-4F88-BA79-8BEE708323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BBBF697E-5DB8-4B76-B95B-7DAC565A4A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EB1E606-D23B-4E7E-A570-B91E919262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1DD23807-F77C-481C-B88F-CC7E6AF00C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A1D2D4-2A96-476A-A0DE-5A6BAEC0DB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7188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53F0-BF14-1A1A-A400-2249CF73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7111F-E752-811D-2615-BD92FFDA8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5475" cy="435133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Our first model went through several iterations (epoch's) of training to tackle the problem statement of eliminating false positives.  </a:t>
            </a:r>
          </a:p>
          <a:p>
            <a:r>
              <a:rPr lang="en-US"/>
              <a:t>By training the neural network or the brain of the model with multiple intervals, the model is less prone to give false positives of fraud due to our features. </a:t>
            </a:r>
          </a:p>
        </p:txBody>
      </p:sp>
      <p:pic>
        <p:nvPicPr>
          <p:cNvPr id="4" name="Content Placeholder 3" descr="A graph of training and validation&#10;&#10;Description automatically generated">
            <a:extLst>
              <a:ext uri="{FF2B5EF4-FFF2-40B4-BE49-F238E27FC236}">
                <a16:creationId xmlns:a16="http://schemas.microsoft.com/office/drawing/2014/main" id="{AEA0C318-FE88-57AD-1095-837B5A1D9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982" y="1466203"/>
            <a:ext cx="5262927" cy="412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38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Top left">
            <a:extLst>
              <a:ext uri="{FF2B5EF4-FFF2-40B4-BE49-F238E27FC236}">
                <a16:creationId xmlns:a16="http://schemas.microsoft.com/office/drawing/2014/main" id="{A345EEC5-ECAA-408B-B9D7-1C0E1102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9B09D8-FF9D-4CE5-853B-3BA46FD5C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C978A2-F53F-4B72-9BAC-5F78F00B6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F73D09D-1DE1-441E-88F5-CD2CBAB88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DE61DBF-5FB0-4603-BE95-C566DD48B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8C89DF5-F013-4C54-B9AD-2E158706C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D89947-A3CF-4B11-8DE7-5D07A57CB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3E24021-DB80-451B-96A6-0D21AC0C8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BDA2B48-4CD9-45C3-8F12-21255336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119BF2-489D-7CAE-7825-913F50779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246090" cy="1471193"/>
          </a:xfrm>
        </p:spPr>
        <p:txBody>
          <a:bodyPr>
            <a:normAutofit/>
          </a:bodyPr>
          <a:lstStyle/>
          <a:p>
            <a:r>
              <a:rPr lang="en-US"/>
              <a:t>Model Architecture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81D77-0C19-2163-152B-756A41481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79" y="1828800"/>
            <a:ext cx="5588849" cy="428428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600"/>
              <a:t>Our second model includes features engineered from transactional data, such as HighValueTransactionRate, HighValueHourDeviation, and IS_12_TO_2PM.</a:t>
            </a:r>
          </a:p>
          <a:p>
            <a:pPr>
              <a:lnSpc>
                <a:spcPct val="100000"/>
              </a:lnSpc>
            </a:pPr>
            <a:r>
              <a:rPr lang="en-US" sz="1600"/>
              <a:t>Trained with 202 epochs to minimize loss, using LAUC (Logarithmic AUC Loss) as the metric.</a:t>
            </a:r>
          </a:p>
          <a:p>
            <a:pPr>
              <a:lnSpc>
                <a:spcPct val="100000"/>
              </a:lnSpc>
            </a:pPr>
            <a:r>
              <a:rPr lang="en-US" sz="1600"/>
              <a:t>The training and validation losses were recorded for each epoch.</a:t>
            </a:r>
          </a:p>
          <a:p>
            <a:pPr>
              <a:lnSpc>
                <a:spcPct val="100000"/>
              </a:lnSpc>
            </a:pPr>
            <a:r>
              <a:rPr lang="en-US" sz="1600"/>
              <a:t>Key Observations (Epoch Log and Metrics):</a:t>
            </a:r>
          </a:p>
          <a:p>
            <a:pPr>
              <a:lnSpc>
                <a:spcPct val="100000"/>
              </a:lnSpc>
            </a:pPr>
            <a:r>
              <a:rPr lang="en-US" sz="1600"/>
              <a:t>Best Validation Loss: 0.010321, achieved during training.</a:t>
            </a:r>
          </a:p>
          <a:p>
            <a:pPr>
              <a:lnSpc>
                <a:spcPct val="100000"/>
              </a:lnSpc>
            </a:pPr>
            <a:r>
              <a:rPr lang="en-US" sz="1600"/>
              <a:t>Best Train LAUC: 0.915897.</a:t>
            </a:r>
          </a:p>
          <a:p>
            <a:pPr>
              <a:lnSpc>
                <a:spcPct val="100000"/>
              </a:lnSpc>
            </a:pPr>
            <a:r>
              <a:rPr lang="en-US" sz="1600"/>
              <a:t>Best Validation AUC: 0.991837, indicating strong generalization capabilities.</a:t>
            </a:r>
          </a:p>
          <a:p>
            <a:pPr>
              <a:lnSpc>
                <a:spcPct val="100000"/>
              </a:lnSpc>
            </a:pPr>
            <a:r>
              <a:rPr lang="en-US" sz="1600"/>
              <a:t>Best Validation LAUC: 0.941922.</a:t>
            </a:r>
          </a:p>
        </p:txBody>
      </p:sp>
      <p:grpSp>
        <p:nvGrpSpPr>
          <p:cNvPr id="24" name="Bottom Right">
            <a:extLst>
              <a:ext uri="{FF2B5EF4-FFF2-40B4-BE49-F238E27FC236}">
                <a16:creationId xmlns:a16="http://schemas.microsoft.com/office/drawing/2014/main" id="{F0A218EB-ECC2-4D0D-9EDC-F5CB062C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419D1C3-874F-4BF6-A356-1EA4A20D4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4AC4AE33-203A-4A93-8263-6CC6BB608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F15373C-6DCA-4058-94CC-6476950E5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61BE5B1-15E0-484D-8B21-F6BA455B21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1167C23-6882-4551-BF77-DF537E736E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0749460-4B9F-4DE4-9931-7B5831D68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567746C-E54C-4865-ACF1-CD31DD1D8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E7B0826-2FBE-4B23-B784-BB7CDA8B3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DF54EDF-BA0A-440F-B20A-2A76BFE15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53B2ADC-F80C-403E-B1CA-BCFED2CE5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graph of a line graph&#10;&#10;Description automatically generated">
            <a:extLst>
              <a:ext uri="{FF2B5EF4-FFF2-40B4-BE49-F238E27FC236}">
                <a16:creationId xmlns:a16="http://schemas.microsoft.com/office/drawing/2014/main" id="{523FB206-57BE-EBA4-D91F-6D177489D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125" y="1337665"/>
            <a:ext cx="5841827" cy="446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0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8F60-0BF2-B745-687E-0268416C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Architecture 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10FB3-745B-F590-03EE-9BD324599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Conclusion:</a:t>
            </a:r>
          </a:p>
          <a:p>
            <a:r>
              <a:rPr lang="en-US"/>
              <a:t>This neural network model demonstrated robust performance, achieving a high AUC of 0.991837 with a minimal validation loss.</a:t>
            </a:r>
          </a:p>
          <a:p>
            <a:r>
              <a:rPr lang="en-US"/>
              <a:t>Training over 202 epochs ensured stability and consistent improvement, with the best metrics aligning closely during the training process.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39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F7E8-8DD2-494B-234C-6DAF4ADE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9CA48-C936-A5AC-5E7D-54DDD1C4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For the True detection rate, our model captured 82.35% Fraud Transactions and prevented 87.49% Fraud Loss at a 0.5% NF review rate</a:t>
            </a:r>
          </a:p>
          <a:p>
            <a:r>
              <a:rPr lang="en-US"/>
              <a:t>For the Acceptance detection rate, our model captured 77.42% Fraud Account and prevented 85.41% Fraud Loss at a 0.87% NF Account review rate</a:t>
            </a:r>
          </a:p>
          <a:p>
            <a:r>
              <a:rPr lang="en-US">
                <a:cs typeface="Arial"/>
              </a:rPr>
              <a:t>Our second model captured 16.3% Fraud Account and prevented 27.9% Fraud Loss at a 0.87% NF Account review rate </a:t>
            </a:r>
            <a:endParaRPr lang="en-US" sz="1100">
              <a:solidFill>
                <a:srgbClr val="1F1F1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8945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DD2B-8222-02A3-137A-C9A6E764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Metrics Cont'd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BE7D4-93A3-9F47-D4A7-A30BC25C2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Our score out ran two iterations of % non-fraud and account % non-fraud transactions</a:t>
            </a:r>
          </a:p>
          <a:p>
            <a:r>
              <a:rPr lang="en-US">
                <a:cs typeface="Arial"/>
              </a:rPr>
              <a:t>% non-fraud calculates the the number of transactions from non-fraud accounts that scored above the suspect threshold over the total number of transactions from the non-fraud accounts</a:t>
            </a:r>
          </a:p>
          <a:p>
            <a:r>
              <a:rPr lang="en-US">
                <a:cs typeface="Arial"/>
              </a:rPr>
              <a:t>Account % non-fraud calculates this at the account level</a:t>
            </a:r>
          </a:p>
        </p:txBody>
      </p:sp>
    </p:spTree>
    <p:extLst>
      <p:ext uri="{BB962C8B-B14F-4D97-AF65-F5344CB8AC3E}">
        <p14:creationId xmlns:p14="http://schemas.microsoft.com/office/powerpoint/2010/main" val="819347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B484-BB56-98F6-8006-6B4099D6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Metrics Cont'd</a:t>
            </a:r>
          </a:p>
        </p:txBody>
      </p:sp>
      <p:pic>
        <p:nvPicPr>
          <p:cNvPr id="4" name="Content Placeholder 3" descr="A graph with a bar graph&#10;&#10;Description automatically generated">
            <a:extLst>
              <a:ext uri="{FF2B5EF4-FFF2-40B4-BE49-F238E27FC236}">
                <a16:creationId xmlns:a16="http://schemas.microsoft.com/office/drawing/2014/main" id="{05B6B3C0-A5F0-BFB4-A204-ECA314B31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00975"/>
            <a:ext cx="6096000" cy="4443399"/>
          </a:xfrm>
        </p:spPr>
      </p:pic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E5A1ACAF-B55C-8A93-0861-4729DEC41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94" y="1763006"/>
            <a:ext cx="5346096" cy="431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96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1DF5-3819-9143-65CE-510CC5F6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Metrics Cont'd</a:t>
            </a:r>
          </a:p>
        </p:txBody>
      </p:sp>
      <p:pic>
        <p:nvPicPr>
          <p:cNvPr id="4" name="Content Placeholder 3" descr="A graph showing a line&#10;&#10;Description automatically generated">
            <a:extLst>
              <a:ext uri="{FF2B5EF4-FFF2-40B4-BE49-F238E27FC236}">
                <a16:creationId xmlns:a16="http://schemas.microsoft.com/office/drawing/2014/main" id="{9149351E-203B-C5DD-3E3E-E06C9295A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2491"/>
            <a:ext cx="6096000" cy="3432272"/>
          </a:xfrm>
        </p:spPr>
      </p:pic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1556D0E1-22BE-5573-676D-DD86B4F56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8072"/>
            <a:ext cx="6096000" cy="341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314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6D68B-B29E-3B6E-7B74-949D6DF7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performance plots</a:t>
            </a:r>
          </a:p>
        </p:txBody>
      </p:sp>
      <p:pic>
        <p:nvPicPr>
          <p:cNvPr id="5" name="Content Placeholder 4" descr="TDR vs %NF (ROC)">
            <a:extLst>
              <a:ext uri="{FF2B5EF4-FFF2-40B4-BE49-F238E27FC236}">
                <a16:creationId xmlns:a16="http://schemas.microsoft.com/office/drawing/2014/main" id="{4C0B7315-67C8-273E-F38E-274718CE4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5162"/>
            <a:ext cx="4257675" cy="2633360"/>
          </a:xfrm>
        </p:spPr>
      </p:pic>
      <p:pic>
        <p:nvPicPr>
          <p:cNvPr id="7" name="Picture 6" descr="TVDR vs %NF (Dollar Weighted ROC)">
            <a:extLst>
              <a:ext uri="{FF2B5EF4-FFF2-40B4-BE49-F238E27FC236}">
                <a16:creationId xmlns:a16="http://schemas.microsoft.com/office/drawing/2014/main" id="{3E2A07D0-BBD8-79F6-7CA6-B09E531B9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322" y="1427526"/>
            <a:ext cx="4188584" cy="2602146"/>
          </a:xfrm>
          <a:prstGeom prst="rect">
            <a:avLst/>
          </a:prstGeom>
        </p:spPr>
      </p:pic>
      <p:pic>
        <p:nvPicPr>
          <p:cNvPr id="9" name="Picture 8" descr="A graph with a blue line&#10;&#10;Description automatically generated">
            <a:extLst>
              <a:ext uri="{FF2B5EF4-FFF2-40B4-BE49-F238E27FC236}">
                <a16:creationId xmlns:a16="http://schemas.microsoft.com/office/drawing/2014/main" id="{93191508-3AAD-A31D-DA35-BF9BD4FA7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096158"/>
            <a:ext cx="4244820" cy="2633360"/>
          </a:xfrm>
          <a:prstGeom prst="rect">
            <a:avLst/>
          </a:prstGeom>
        </p:spPr>
      </p:pic>
      <p:pic>
        <p:nvPicPr>
          <p:cNvPr id="11" name="Picture 10" descr="A graph with a line&#10;&#10;Description automatically generated">
            <a:extLst>
              <a:ext uri="{FF2B5EF4-FFF2-40B4-BE49-F238E27FC236}">
                <a16:creationId xmlns:a16="http://schemas.microsoft.com/office/drawing/2014/main" id="{2BCEA2ED-E262-BF68-C577-7F038D5C5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3322" y="4129401"/>
            <a:ext cx="4153797" cy="26021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42669A-24E6-7A8B-0F2E-9B599DD868CE}"/>
              </a:ext>
            </a:extLst>
          </p:cNvPr>
          <p:cNvSpPr txBox="1"/>
          <p:nvPr/>
        </p:nvSpPr>
        <p:spPr>
          <a:xfrm>
            <a:off x="9115425" y="1445162"/>
            <a:ext cx="25431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TDR vs %NF (ROC)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TVDR vs %NF (Dollar Weighted ROC)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ADR vs A%NF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TVDR vs A%NF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93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9994-B639-1EFC-D8C0-F48854AB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Score Distribution Plot </a:t>
            </a:r>
          </a:p>
        </p:txBody>
      </p:sp>
      <p:pic>
        <p:nvPicPr>
          <p:cNvPr id="4" name="Content Placeholder 3" descr="A graph with a line&#10;&#10;Description automatically generated">
            <a:extLst>
              <a:ext uri="{FF2B5EF4-FFF2-40B4-BE49-F238E27FC236}">
                <a16:creationId xmlns:a16="http://schemas.microsoft.com/office/drawing/2014/main" id="{08917A22-3C6E-C2BC-7EF9-6E220091C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5234" y="1825625"/>
            <a:ext cx="72815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88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6F94-9FCC-CD34-1007-17889E39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C07CE-7A2C-D39A-2672-A47BB1817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Key Takeaways:</a:t>
            </a:r>
          </a:p>
          <a:p>
            <a:r>
              <a:rPr lang="en-US"/>
              <a:t>The neural network achieves high accuracy and AUC in detecting fraud.</a:t>
            </a:r>
          </a:p>
          <a:p>
            <a:r>
              <a:rPr lang="en-US"/>
              <a:t>Good features significantly improve model performance.</a:t>
            </a:r>
          </a:p>
          <a:p>
            <a:r>
              <a:rPr lang="en-US" b="1"/>
              <a:t>Next Steps:</a:t>
            </a:r>
          </a:p>
          <a:p>
            <a:r>
              <a:rPr lang="en-US"/>
              <a:t>Test on larger and more diverse datasets.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04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40BD-4159-CC17-4EE2-5B36C6F8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28900-99FE-F2FA-02DE-325964ECD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We would like to thank:</a:t>
            </a:r>
          </a:p>
          <a:p>
            <a:r>
              <a:rPr lang="en-US"/>
              <a:t>Our mentors and instructors for guidance.</a:t>
            </a:r>
          </a:p>
          <a:p>
            <a:r>
              <a:rPr lang="en-US"/>
              <a:t>Our team members for their contributions.</a:t>
            </a:r>
          </a:p>
          <a:p>
            <a:r>
              <a:rPr lang="en-US"/>
              <a:t>Data sources and tools that made this project possible.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04916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AnalogousFromDarkSeedLeftStep">
      <a:dk1>
        <a:srgbClr val="000000"/>
      </a:dk1>
      <a:lt1>
        <a:srgbClr val="FFFFFF"/>
      </a:lt1>
      <a:dk2>
        <a:srgbClr val="1C2B31"/>
      </a:dk2>
      <a:lt2>
        <a:srgbClr val="F0F3F0"/>
      </a:lt2>
      <a:accent1>
        <a:srgbClr val="D433DD"/>
      </a:accent1>
      <a:accent2>
        <a:srgbClr val="7E26CC"/>
      </a:accent2>
      <a:accent3>
        <a:srgbClr val="4733DD"/>
      </a:accent3>
      <a:accent4>
        <a:srgbClr val="2154CB"/>
      </a:accent4>
      <a:accent5>
        <a:srgbClr val="33ADDD"/>
      </a:accent5>
      <a:accent6>
        <a:srgbClr val="20C2AC"/>
      </a:accent6>
      <a:hlink>
        <a:srgbClr val="3F86BF"/>
      </a:hlink>
      <a:folHlink>
        <a:srgbClr val="7F7F7F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</Words>
  <Application>Microsoft Macintosh PowerPoint</Application>
  <PresentationFormat>Widescreen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Avenir Next LT Pro</vt:lpstr>
      <vt:lpstr>AvenirNext LT Pro Medium</vt:lpstr>
      <vt:lpstr>Sagona Book</vt:lpstr>
      <vt:lpstr>ExploreVTI</vt:lpstr>
      <vt:lpstr>FICO Analytic Challenge</vt:lpstr>
      <vt:lpstr>Table of Contents</vt:lpstr>
      <vt:lpstr>Introduction</vt:lpstr>
      <vt:lpstr>Data Analysis</vt:lpstr>
      <vt:lpstr>Feature Engineering and Selection</vt:lpstr>
      <vt:lpstr>Feature Engineering and Selection cont.</vt:lpstr>
      <vt:lpstr>Logistic regression plot</vt:lpstr>
      <vt:lpstr>Plots of Features</vt:lpstr>
      <vt:lpstr>Model Architecture</vt:lpstr>
      <vt:lpstr>Model Architecture Cont.</vt:lpstr>
      <vt:lpstr>Model Architecture Final</vt:lpstr>
      <vt:lpstr>Performance Metrics</vt:lpstr>
      <vt:lpstr>Performance Metrics Cont'd</vt:lpstr>
      <vt:lpstr>Performance Metrics Cont'd</vt:lpstr>
      <vt:lpstr>Performance Metrics Cont'd</vt:lpstr>
      <vt:lpstr>Final performance plots</vt:lpstr>
      <vt:lpstr>Score Distribution Plot </vt:lpstr>
      <vt:lpstr>Conclusion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ameen rufai</dc:creator>
  <cp:lastModifiedBy>ameen rufai</cp:lastModifiedBy>
  <cp:revision>2</cp:revision>
  <dcterms:created xsi:type="dcterms:W3CDTF">2024-11-21T07:32:11Z</dcterms:created>
  <dcterms:modified xsi:type="dcterms:W3CDTF">2025-11-30T03:36:36Z</dcterms:modified>
</cp:coreProperties>
</file>